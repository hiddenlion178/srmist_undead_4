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p/>
        </p:txBody>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777240"/>
          </a:xfrm>
          <a:prstGeom prst="rect">
            <a:avLst/>
          </a:prstGeom>
          <a:noFill/>
          <a:ln/>
        </p:spPr>
        <p:txBody>
          <a:bodyPr wrap="square" lIns="18288" tIns="18288" rIns="18288" bIns="18288" rtlCol="0" anchor="t"/>
          <a:lstStyle/>
          <a:p>
            <a:pPr>
              <a:spcAft>
                <a:spcPts val="300"/>
              </a:spcAft>
            </a:pPr>
            <a:r>
              <a:rPr sz="1400" b="1">
                <a:solidFill>
                  <a:srgbClr val="63637E"/>
                </a:solidFill>
                <a:latin typeface="Calibri"/>
              </a:rPr>
              <a:t>Theme ID - 4  |  Streaming Live RAG</a:t>
            </a:r>
          </a:p>
          <a:p>
            <a:pPr>
              <a:spcAft>
                <a:spcPts val="300"/>
              </a:spcAft>
            </a:pPr>
            <a:r>
              <a:rPr sz="1400" b="1">
                <a:solidFill>
                  <a:srgbClr val="63637E"/>
                </a:solidFill>
                <a:latin typeface="Calibri"/>
              </a:rPr>
              <a:t>Team Name - SRMIST_StreamRAG_4</a:t>
            </a:r>
          </a:p>
          <a:p>
            <a:pPr>
              <a:spcAft>
                <a:spcPts val="300"/>
              </a:spcAft>
            </a:pPr>
            <a:r>
              <a:rPr sz="1400" b="0">
                <a:solidFill>
                  <a:srgbClr val="63637E"/>
                </a:solidFill>
                <a:latin typeface="Calibri"/>
              </a:rPr>
              <a:t>College Name - SRM Institute of Science and Technology</a:t>
            </a:r>
          </a:p>
          <a:p>
            <a:pPr>
              <a:spcAft>
                <a:spcPts val="300"/>
              </a:spcAft>
            </a:pPr>
            <a:r>
              <a:rPr sz="1400" b="0">
                <a:solidFill>
                  <a:srgbClr val="63637E"/>
                </a:solidFill>
                <a:latin typeface="Calibri"/>
              </a:rPr>
              <a:t>Member 1 - KA Mohammed Ziyan  |  RA2411026010528</a:t>
            </a:r>
          </a:p>
          <a:p>
            <a:pPr>
              <a:spcAft>
                <a:spcPts val="300"/>
              </a:spcAft>
            </a:pPr>
            <a:r>
              <a:rPr sz="1400" b="0">
                <a:solidFill>
                  <a:srgbClr val="63637E"/>
                </a:solidFill>
                <a:latin typeface="Calibri"/>
              </a:rPr>
              <a:t>Member 2 - Subham Sankhala  |  RA2411031010082</a:t>
            </a:r>
          </a:p>
          <a:p>
            <a:pPr>
              <a:spcAft>
                <a:spcPts val="300"/>
              </a:spcAft>
            </a:pPr>
            <a:r>
              <a:rPr sz="1400" b="0">
                <a:solidFill>
                  <a:srgbClr val="63637E"/>
                </a:solidFill>
                <a:latin typeface="Calibri"/>
              </a:rPr>
              <a:t>Submission GitHub link - To be added with final repository</a:t>
            </a: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Theme</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a:p>
        </p:txBody>
      </p:sp>
      <p:sp>
        <p:nvSpPr>
          <p:cNvPr id="4" name="TextBox 3"/>
          <p:cNvSpPr txBox="1"/>
          <p:nvPr/>
        </p:nvSpPr>
        <p:spPr>
          <a:xfrm>
            <a:off x="777240" y="1417320"/>
            <a:ext cx="4754880" cy="502920"/>
          </a:xfrm>
          <a:prstGeom prst="rect">
            <a:avLst/>
          </a:prstGeom>
          <a:noFill/>
        </p:spPr>
        <p:txBody>
          <a:bodyPr wrap="square" lIns="45720" rIns="45720" anchor="t">
            <a:spAutoFit/>
          </a:bodyPr>
          <a:lstStyle/>
          <a:p>
            <a:pPr algn="l">
              <a:lnSpc>
                <a:spcPct val="105000"/>
              </a:lnSpc>
            </a:pPr>
            <a:r>
              <a:rPr sz="2800" b="1">
                <a:solidFill>
                  <a:srgbClr val="6D28D9"/>
                </a:solidFill>
                <a:latin typeface="Arial"/>
              </a:rPr>
              <a:t>Streaming Live RAG</a:t>
            </a:r>
          </a:p>
        </p:txBody>
      </p:sp>
      <p:sp>
        <p:nvSpPr>
          <p:cNvPr id="5" name="TextBox 4"/>
          <p:cNvSpPr txBox="1"/>
          <p:nvPr/>
        </p:nvSpPr>
        <p:spPr>
          <a:xfrm>
            <a:off x="777240" y="1901952"/>
            <a:ext cx="9052560" cy="411480"/>
          </a:xfrm>
          <a:prstGeom prst="rect">
            <a:avLst/>
          </a:prstGeom>
          <a:noFill/>
        </p:spPr>
        <p:txBody>
          <a:bodyPr wrap="square" lIns="45720" rIns="45720" anchor="t">
            <a:spAutoFit/>
          </a:bodyPr>
          <a:lstStyle/>
          <a:p>
            <a:pPr algn="l">
              <a:lnSpc>
                <a:spcPct val="105000"/>
              </a:lnSpc>
            </a:pPr>
            <a:r>
              <a:rPr sz="1800" b="0">
                <a:solidFill>
                  <a:srgbClr val="63637E"/>
                </a:solidFill>
                <a:latin typeface="Arial"/>
              </a:rPr>
              <a:t>Real-time retrieval for incomplete, evolving user requests</a:t>
            </a:r>
          </a:p>
        </p:txBody>
      </p:sp>
      <p:sp>
        <p:nvSpPr>
          <p:cNvPr id="6" name="Rounded Rectangle 5"/>
          <p:cNvSpPr/>
          <p:nvPr/>
        </p:nvSpPr>
        <p:spPr>
          <a:xfrm>
            <a:off x="777240" y="2514600"/>
            <a:ext cx="4526280" cy="2057400"/>
          </a:xfrm>
          <a:prstGeom prst="roundRect">
            <a:avLst/>
          </a:prstGeom>
          <a:solidFill>
            <a:srgbClr val="EEE7FA"/>
          </a:solidFill>
          <a:ln w="16510">
            <a:solidFill>
              <a:srgbClr val="704EA6"/>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800" b="1">
                <a:solidFill>
                  <a:srgbClr val="704EA6"/>
                </a:solidFill>
                <a:latin typeface="Arial"/>
              </a:rPr>
              <a:t>THE CORE PROBLEM</a:t>
            </a:r>
          </a:p>
          <a:p>
            <a:pPr>
              <a:spcAft>
                <a:spcPts val="0"/>
              </a:spcAft>
            </a:pPr>
            <a:r>
              <a:rPr sz="1400">
                <a:solidFill>
                  <a:srgbClr val="14142B"/>
                </a:solidFill>
                <a:latin typeface="Arial"/>
              </a:rPr>
              <a:t>Conventional RAG often waits for a complete query. This theme requires the system to reason over an incoming stream, retrieve early when intent becomes stable, and keep refining the answer as new details arrive.</a:t>
            </a:r>
          </a:p>
        </p:txBody>
      </p:sp>
      <p:sp>
        <p:nvSpPr>
          <p:cNvPr id="7" name="Rounded Rectangle 6"/>
          <p:cNvSpPr/>
          <p:nvPr/>
        </p:nvSpPr>
        <p:spPr>
          <a:xfrm>
            <a:off x="5486400" y="2514600"/>
            <a:ext cx="4526280" cy="2057400"/>
          </a:xfrm>
          <a:prstGeom prst="roundRect">
            <a:avLst/>
          </a:prstGeom>
          <a:solidFill>
            <a:srgbClr val="E7F7F5"/>
          </a:solidFill>
          <a:ln w="16510">
            <a:solidFill>
              <a:srgbClr val="0FA39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800" b="1">
                <a:solidFill>
                  <a:srgbClr val="0FA39E"/>
                </a:solidFill>
                <a:latin typeface="Arial"/>
              </a:rPr>
              <a:t>OUR OBJECTIVE</a:t>
            </a:r>
          </a:p>
          <a:p>
            <a:pPr>
              <a:spcAft>
                <a:spcPts val="0"/>
              </a:spcAft>
            </a:pPr>
            <a:r>
              <a:rPr sz="1400">
                <a:solidFill>
                  <a:srgbClr val="14142B"/>
                </a:solidFill>
                <a:latin typeface="Arial"/>
              </a:rPr>
              <a:t>Retrieve early • decompose multiple intents • fuse evidence • refine without restarting • suppress unnecessary searches • ground factual claims with corpus citations.</a:t>
            </a:r>
          </a:p>
        </p:txBody>
      </p:sp>
      <p:sp>
        <p:nvSpPr>
          <p:cNvPr id="8" name="TextBox 7"/>
          <p:cNvSpPr txBox="1"/>
          <p:nvPr/>
        </p:nvSpPr>
        <p:spPr>
          <a:xfrm>
            <a:off x="777240" y="4892040"/>
            <a:ext cx="3657600" cy="320040"/>
          </a:xfrm>
          <a:prstGeom prst="rect">
            <a:avLst/>
          </a:prstGeom>
          <a:noFill/>
        </p:spPr>
        <p:txBody>
          <a:bodyPr wrap="square" lIns="45720" rIns="45720" anchor="t">
            <a:spAutoFit/>
          </a:bodyPr>
          <a:lstStyle/>
          <a:p>
            <a:pPr algn="l">
              <a:lnSpc>
                <a:spcPct val="105000"/>
              </a:lnSpc>
            </a:pPr>
            <a:r>
              <a:rPr sz="1600" b="1">
                <a:solidFill>
                  <a:srgbClr val="14142B"/>
                </a:solidFill>
                <a:latin typeface="Arial"/>
              </a:rPr>
              <a:t>Theme behavior we will demonstrate</a:t>
            </a:r>
          </a:p>
        </p:txBody>
      </p:sp>
      <p:sp>
        <p:nvSpPr>
          <p:cNvPr id="9" name="TextBox 8"/>
          <p:cNvSpPr txBox="1"/>
          <p:nvPr/>
        </p:nvSpPr>
        <p:spPr>
          <a:xfrm>
            <a:off x="868680" y="5257800"/>
            <a:ext cx="8961120" cy="1234440"/>
          </a:xfrm>
          <a:prstGeom prst="rect">
            <a:avLst/>
          </a:prstGeom>
          <a:noFill/>
        </p:spPr>
        <p:txBody>
          <a:bodyPr wrap="square" lIns="45720" rIns="45720" tIns="27432" bIns="27432">
            <a:spAutoFit/>
          </a:bodyPr>
          <a:lstStyle/>
          <a:p>
            <a:pPr>
              <a:spcAft>
                <a:spcPts val="100"/>
              </a:spcAft>
            </a:pPr>
            <a:r>
              <a:rPr sz="1500" b="1">
                <a:solidFill>
                  <a:srgbClr val="704EA6"/>
                </a:solidFill>
                <a:latin typeface="Arial"/>
              </a:rPr>
              <a:t>• </a:t>
            </a:r>
            <a:r>
              <a:rPr sz="1500">
                <a:solidFill>
                  <a:srgbClr val="14142B"/>
                </a:solidFill>
                <a:latin typeface="Arial"/>
              </a:rPr>
              <a:t>Incremental transcript chunks</a:t>
            </a:r>
          </a:p>
          <a:p>
            <a:pPr>
              <a:spcAft>
                <a:spcPts val="100"/>
              </a:spcAft>
            </a:pPr>
            <a:r>
              <a:rPr sz="1500" b="1">
                <a:solidFill>
                  <a:srgbClr val="704EA6"/>
                </a:solidFill>
                <a:latin typeface="Arial"/>
              </a:rPr>
              <a:t>• </a:t>
            </a:r>
            <a:r>
              <a:rPr sz="1500">
                <a:solidFill>
                  <a:srgbClr val="14142B"/>
                </a:solidFill>
                <a:latin typeface="Arial"/>
              </a:rPr>
              <a:t>WAIT / RETRIEVE / NO-RETRIEVAL decisions</a:t>
            </a:r>
          </a:p>
          <a:p>
            <a:pPr>
              <a:spcAft>
                <a:spcPts val="100"/>
              </a:spcAft>
            </a:pPr>
            <a:r>
              <a:rPr sz="1500" b="1">
                <a:solidFill>
                  <a:srgbClr val="704EA6"/>
                </a:solidFill>
                <a:latin typeface="Arial"/>
              </a:rPr>
              <a:t>• </a:t>
            </a:r>
            <a:r>
              <a:rPr sz="1500">
                <a:solidFill>
                  <a:srgbClr val="14142B"/>
                </a:solidFill>
                <a:latin typeface="Arial"/>
              </a:rPr>
              <a:t>Parallel retrieval for compound requests</a:t>
            </a:r>
          </a:p>
          <a:p>
            <a:pPr>
              <a:spcAft>
                <a:spcPts val="100"/>
              </a:spcAft>
            </a:pPr>
            <a:r>
              <a:rPr sz="1500" b="1">
                <a:solidFill>
                  <a:srgbClr val="704EA6"/>
                </a:solidFill>
                <a:latin typeface="Arial"/>
              </a:rPr>
              <a:t>• </a:t>
            </a:r>
            <a:r>
              <a:rPr sz="1500">
                <a:solidFill>
                  <a:srgbClr val="14142B"/>
                </a:solidFill>
                <a:latin typeface="Arial"/>
              </a:rPr>
              <a:t>Late-detail answer refinement with versioning</a:t>
            </a:r>
          </a:p>
          <a:p>
            <a:pPr>
              <a:spcAft>
                <a:spcPts val="100"/>
              </a:spcAft>
            </a:pPr>
            <a:r>
              <a:rPr sz="1500" b="1">
                <a:solidFill>
                  <a:srgbClr val="704EA6"/>
                </a:solidFill>
                <a:latin typeface="Arial"/>
              </a:rPr>
              <a:t>• </a:t>
            </a:r>
            <a:r>
              <a:rPr sz="1500">
                <a:solidFill>
                  <a:srgbClr val="14142B"/>
                </a:solidFill>
                <a:latin typeface="Arial"/>
              </a:rPr>
              <a:t>Structured citations and telemetry</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a:p>
        </p:txBody>
      </p:sp>
      <p:sp>
        <p:nvSpPr>
          <p:cNvPr id="4" name="Rounded Rectangle 3"/>
          <p:cNvSpPr/>
          <p:nvPr/>
        </p:nvSpPr>
        <p:spPr>
          <a:xfrm>
            <a:off x="777240" y="1417320"/>
            <a:ext cx="2834640" cy="1920240"/>
          </a:xfrm>
          <a:prstGeom prst="roundRect">
            <a:avLst/>
          </a:prstGeom>
          <a:solidFill>
            <a:srgbClr val="FFFFFF"/>
          </a:solidFill>
          <a:ln w="16510">
            <a:solidFill>
              <a:srgbClr val="704EA6"/>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700" b="1">
                <a:solidFill>
                  <a:srgbClr val="704EA6"/>
                </a:solidFill>
                <a:latin typeface="Arial"/>
              </a:rPr>
              <a:t>CONVENTIONAL RAG</a:t>
            </a:r>
          </a:p>
          <a:p>
            <a:pPr>
              <a:spcAft>
                <a:spcPts val="0"/>
              </a:spcAft>
            </a:pPr>
            <a:r>
              <a:rPr sz="1300">
                <a:solidFill>
                  <a:srgbClr val="14142B"/>
                </a:solidFill>
                <a:latin typeface="Arial"/>
              </a:rPr>
              <a:t>User finishes a query → retrieve once → generate one answer. Simple, but it can delay useful retrieval and cannot naturally react to evolving intent.</a:t>
            </a:r>
          </a:p>
        </p:txBody>
      </p:sp>
      <p:sp>
        <p:nvSpPr>
          <p:cNvPr id="5" name="Rounded Rectangle 4"/>
          <p:cNvSpPr/>
          <p:nvPr/>
        </p:nvSpPr>
        <p:spPr>
          <a:xfrm>
            <a:off x="3886200" y="1417320"/>
            <a:ext cx="2834640" cy="1920240"/>
          </a:xfrm>
          <a:prstGeom prst="roundRect">
            <a:avLst/>
          </a:prstGeom>
          <a:solidFill>
            <a:srgbClr val="FFFFFF"/>
          </a:solidFill>
          <a:ln w="16510">
            <a:solidFill>
              <a:srgbClr val="0FA39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700" b="1">
                <a:solidFill>
                  <a:srgbClr val="0FA39E"/>
                </a:solidFill>
                <a:latin typeface="Arial"/>
              </a:rPr>
              <a:t>NAIVE STREAMING</a:t>
            </a:r>
          </a:p>
          <a:p>
            <a:pPr>
              <a:spcAft>
                <a:spcPts val="0"/>
              </a:spcAft>
            </a:pPr>
            <a:r>
              <a:rPr sz="1300">
                <a:solidFill>
                  <a:srgbClr val="14142B"/>
                </a:solidFill>
                <a:latin typeface="Arial"/>
              </a:rPr>
              <a:t>Retrieving on every partial chunk creates noisy searches, repeated work and unnecessary latency.</a:t>
            </a:r>
          </a:p>
        </p:txBody>
      </p:sp>
      <p:sp>
        <p:nvSpPr>
          <p:cNvPr id="6" name="Rounded Rectangle 5"/>
          <p:cNvSpPr/>
          <p:nvPr/>
        </p:nvSpPr>
        <p:spPr>
          <a:xfrm>
            <a:off x="6995160" y="1417320"/>
            <a:ext cx="2834640" cy="1920240"/>
          </a:xfrm>
          <a:prstGeom prst="roundRect">
            <a:avLst/>
          </a:prstGeom>
          <a:solidFill>
            <a:srgbClr val="FFFFFF"/>
          </a:solidFill>
          <a:ln w="16510">
            <a:solidFill>
              <a:srgbClr val="255FD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700" b="1">
                <a:solidFill>
                  <a:srgbClr val="255FD7"/>
                </a:solidFill>
                <a:latin typeface="Arial"/>
              </a:rPr>
              <a:t>SESSION RESET</a:t>
            </a:r>
          </a:p>
          <a:p>
            <a:pPr>
              <a:spcAft>
                <a:spcPts val="0"/>
              </a:spcAft>
            </a:pPr>
            <a:r>
              <a:rPr sz="1300">
                <a:solidFill>
                  <a:srgbClr val="14142B"/>
                </a:solidFill>
                <a:latin typeface="Arial"/>
              </a:rPr>
              <a:t>When a late constraint arrives, restarting the whole query can waste previous evidence and break conversational continuity.</a:t>
            </a:r>
          </a:p>
        </p:txBody>
      </p:sp>
      <p:sp>
        <p:nvSpPr>
          <p:cNvPr id="7" name="TextBox 6"/>
          <p:cNvSpPr txBox="1"/>
          <p:nvPr/>
        </p:nvSpPr>
        <p:spPr>
          <a:xfrm>
            <a:off x="777240" y="3703320"/>
            <a:ext cx="2743200" cy="365760"/>
          </a:xfrm>
          <a:prstGeom prst="rect">
            <a:avLst/>
          </a:prstGeom>
          <a:noFill/>
        </p:spPr>
        <p:txBody>
          <a:bodyPr wrap="square" lIns="45720" rIns="45720" anchor="t">
            <a:spAutoFit/>
          </a:bodyPr>
          <a:lstStyle/>
          <a:p>
            <a:pPr algn="l">
              <a:lnSpc>
                <a:spcPct val="105000"/>
              </a:lnSpc>
            </a:pPr>
            <a:r>
              <a:rPr sz="2000" b="1">
                <a:solidFill>
                  <a:srgbClr val="6D28D9"/>
                </a:solidFill>
                <a:latin typeface="Arial"/>
              </a:rPr>
              <a:t>Key gaps to solve</a:t>
            </a:r>
          </a:p>
        </p:txBody>
      </p:sp>
      <p:sp>
        <p:nvSpPr>
          <p:cNvPr id="8" name="TextBox 7"/>
          <p:cNvSpPr txBox="1"/>
          <p:nvPr/>
        </p:nvSpPr>
        <p:spPr>
          <a:xfrm>
            <a:off x="868680" y="4160520"/>
            <a:ext cx="8869680" cy="1965960"/>
          </a:xfrm>
          <a:prstGeom prst="rect">
            <a:avLst/>
          </a:prstGeom>
          <a:noFill/>
        </p:spPr>
        <p:txBody>
          <a:bodyPr wrap="square" lIns="45720" rIns="45720" tIns="27432" bIns="27432">
            <a:spAutoFit/>
          </a:bodyPr>
          <a:lstStyle/>
          <a:p>
            <a:pPr>
              <a:spcAft>
                <a:spcPts val="300"/>
              </a:spcAft>
            </a:pPr>
            <a:r>
              <a:rPr sz="1600" b="1">
                <a:solidFill>
                  <a:srgbClr val="704EA6"/>
                </a:solidFill>
                <a:latin typeface="Arial"/>
              </a:rPr>
              <a:t>• </a:t>
            </a:r>
            <a:r>
              <a:rPr sz="1600">
                <a:solidFill>
                  <a:srgbClr val="14142B"/>
                </a:solidFill>
                <a:latin typeface="Arial"/>
              </a:rPr>
              <a:t>No controller for deciding when retrieval is actually useful.</a:t>
            </a:r>
          </a:p>
          <a:p>
            <a:pPr>
              <a:spcAft>
                <a:spcPts val="300"/>
              </a:spcAft>
            </a:pPr>
            <a:r>
              <a:rPr sz="1600" b="1">
                <a:solidFill>
                  <a:srgbClr val="704EA6"/>
                </a:solidFill>
                <a:latin typeface="Arial"/>
              </a:rPr>
              <a:t>• </a:t>
            </a:r>
            <a:r>
              <a:rPr sz="1600">
                <a:solidFill>
                  <a:srgbClr val="14142B"/>
                </a:solidFill>
                <a:latin typeface="Arial"/>
              </a:rPr>
              <a:t>Compound requests may contain multiple independent search intents.</a:t>
            </a:r>
          </a:p>
          <a:p>
            <a:pPr>
              <a:spcAft>
                <a:spcPts val="300"/>
              </a:spcAft>
            </a:pPr>
            <a:r>
              <a:rPr sz="1600" b="1">
                <a:solidFill>
                  <a:srgbClr val="704EA6"/>
                </a:solidFill>
                <a:latin typeface="Arial"/>
              </a:rPr>
              <a:t>• </a:t>
            </a:r>
            <a:r>
              <a:rPr sz="1600">
                <a:solidFill>
                  <a:srgbClr val="14142B"/>
                </a:solidFill>
                <a:latin typeface="Arial"/>
              </a:rPr>
              <a:t>Late-arriving details should update only affected claims.</a:t>
            </a:r>
          </a:p>
          <a:p>
            <a:pPr>
              <a:spcAft>
                <a:spcPts val="300"/>
              </a:spcAft>
            </a:pPr>
            <a:r>
              <a:rPr sz="1600" b="1">
                <a:solidFill>
                  <a:srgbClr val="704EA6"/>
                </a:solidFill>
                <a:latin typeface="Arial"/>
              </a:rPr>
              <a:t>• </a:t>
            </a:r>
            <a:r>
              <a:rPr sz="1600">
                <a:solidFill>
                  <a:srgbClr val="14142B"/>
                </a:solidFill>
                <a:latin typeface="Arial"/>
              </a:rPr>
              <a:t>Presentation-only requests should reuse existing context without retrieval.</a:t>
            </a:r>
          </a:p>
          <a:p>
            <a:pPr>
              <a:spcAft>
                <a:spcPts val="300"/>
              </a:spcAft>
            </a:pPr>
            <a:r>
              <a:rPr sz="1600" b="1">
                <a:solidFill>
                  <a:srgbClr val="704EA6"/>
                </a:solidFill>
                <a:latin typeface="Arial"/>
              </a:rPr>
              <a:t>• </a:t>
            </a:r>
            <a:r>
              <a:rPr sz="1600">
                <a:solidFill>
                  <a:srgbClr val="14142B"/>
                </a:solidFill>
                <a:latin typeface="Arial"/>
              </a:rPr>
              <a:t>Every factual claim needs traceable corpus evidence and observability.</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dirty="0">
                <a:solidFill>
                  <a:srgbClr val="704EA6"/>
                </a:solidFill>
                <a:latin typeface="+mn-lt"/>
              </a:rPr>
              <a:t>Our Solutions &amp; Architecture Diagram</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a:p>
        </p:txBody>
      </p:sp>
      <p:sp>
        <p:nvSpPr>
          <p:cNvPr id="4" name="TextBox 3"/>
          <p:cNvSpPr txBox="1"/>
          <p:nvPr/>
        </p:nvSpPr>
        <p:spPr>
          <a:xfrm>
            <a:off x="777240" y="1261872"/>
            <a:ext cx="2743200" cy="320040"/>
          </a:xfrm>
          <a:prstGeom prst="rect">
            <a:avLst/>
          </a:prstGeom>
          <a:noFill/>
        </p:spPr>
        <p:txBody>
          <a:bodyPr wrap="square" lIns="45720" rIns="45720" anchor="t">
            <a:spAutoFit/>
          </a:bodyPr>
          <a:lstStyle/>
          <a:p>
            <a:pPr algn="l">
              <a:lnSpc>
                <a:spcPct val="105000"/>
              </a:lnSpc>
            </a:pPr>
            <a:r>
              <a:rPr sz="1800" b="1">
                <a:solidFill>
                  <a:srgbClr val="6D28D9"/>
                </a:solidFill>
                <a:latin typeface="Arial"/>
              </a:rPr>
              <a:t>Proposed pipeline</a:t>
            </a:r>
          </a:p>
        </p:txBody>
      </p:sp>
      <p:sp>
        <p:nvSpPr>
          <p:cNvPr id="5" name="Rounded Rectangle 4"/>
          <p:cNvSpPr/>
          <p:nvPr/>
        </p:nvSpPr>
        <p:spPr>
          <a:xfrm>
            <a:off x="685800" y="1737360"/>
            <a:ext cx="1417320" cy="1234440"/>
          </a:xfrm>
          <a:prstGeom prst="roundRect">
            <a:avLst/>
          </a:prstGeom>
          <a:solidFill>
            <a:srgbClr val="EEE7FA"/>
          </a:solidFill>
          <a:ln w="16510">
            <a:solidFill>
              <a:srgbClr val="704EA6"/>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300" b="1">
                <a:solidFill>
                  <a:srgbClr val="704EA6"/>
                </a:solidFill>
                <a:latin typeface="Arial"/>
              </a:rPr>
              <a:t>INCOMING STREAM</a:t>
            </a:r>
          </a:p>
          <a:p>
            <a:pPr>
              <a:spcAft>
                <a:spcPts val="0"/>
              </a:spcAft>
            </a:pPr>
            <a:r>
              <a:rPr sz="1000">
                <a:solidFill>
                  <a:srgbClr val="14142B"/>
                </a:solidFill>
                <a:latin typeface="Arial"/>
              </a:rPr>
              <a:t>Incremental chunks</a:t>
            </a:r>
          </a:p>
        </p:txBody>
      </p:sp>
      <p:sp>
        <p:nvSpPr>
          <p:cNvPr id="6" name="TextBox 5"/>
          <p:cNvSpPr txBox="1"/>
          <p:nvPr/>
        </p:nvSpPr>
        <p:spPr>
          <a:xfrm>
            <a:off x="758952" y="1783080"/>
            <a:ext cx="201168" cy="228600"/>
          </a:xfrm>
          <a:prstGeom prst="rect">
            <a:avLst/>
          </a:prstGeom>
          <a:noFill/>
        </p:spPr>
        <p:txBody>
          <a:bodyPr wrap="square" lIns="45720" rIns="45720" anchor="t">
            <a:spAutoFit/>
          </a:bodyPr>
          <a:lstStyle/>
          <a:p>
            <a:pPr algn="ctr">
              <a:lnSpc>
                <a:spcPct val="105000"/>
              </a:lnSpc>
            </a:pPr>
            <a:r>
              <a:rPr sz="1000" b="1">
                <a:solidFill>
                  <a:srgbClr val="FFFFFF"/>
                </a:solidFill>
                <a:latin typeface="Arial"/>
              </a:rPr>
              <a:t>1</a:t>
            </a:r>
          </a:p>
        </p:txBody>
      </p:sp>
      <p:sp>
        <p:nvSpPr>
          <p:cNvPr id="7" name="Oval 6"/>
          <p:cNvSpPr/>
          <p:nvPr/>
        </p:nvSpPr>
        <p:spPr>
          <a:xfrm>
            <a:off x="740664" y="1728216"/>
            <a:ext cx="256032" cy="256032"/>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5236" y="1741932"/>
            <a:ext cx="246888" cy="210312"/>
          </a:xfrm>
          <a:prstGeom prst="rect">
            <a:avLst/>
          </a:prstGeom>
          <a:noFill/>
        </p:spPr>
        <p:txBody>
          <a:bodyPr wrap="square" lIns="45720" rIns="45720" anchor="t">
            <a:spAutoFit/>
          </a:bodyPr>
          <a:lstStyle/>
          <a:p>
            <a:pPr algn="ctr">
              <a:lnSpc>
                <a:spcPct val="105000"/>
              </a:lnSpc>
            </a:pPr>
            <a:r>
              <a:rPr sz="900" b="1">
                <a:solidFill>
                  <a:srgbClr val="FFFFFF"/>
                </a:solidFill>
                <a:latin typeface="Arial"/>
              </a:rPr>
              <a:t>1</a:t>
            </a:r>
          </a:p>
        </p:txBody>
      </p:sp>
      <p:cxnSp>
        <p:nvCxnSpPr>
          <p:cNvPr id="9" name="Connector 8"/>
          <p:cNvCxnSpPr/>
          <p:nvPr/>
        </p:nvCxnSpPr>
        <p:spPr>
          <a:xfrm>
            <a:off x="2103120" y="2350008"/>
            <a:ext cx="228600" cy="0"/>
          </a:xfrm>
          <a:prstGeom prst="line">
            <a:avLst/>
          </a:prstGeom>
          <a:ln w="19050">
            <a:solidFill>
              <a:srgbClr val="63637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331720" y="1737360"/>
            <a:ext cx="1417320" cy="1234440"/>
          </a:xfrm>
          <a:prstGeom prst="roundRect">
            <a:avLst/>
          </a:prstGeom>
          <a:solidFill>
            <a:srgbClr val="FFFFFF"/>
          </a:solidFill>
          <a:ln w="16510">
            <a:solidFill>
              <a:srgbClr val="0FA39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300" b="1">
                <a:solidFill>
                  <a:srgbClr val="0FA39E"/>
                </a:solidFill>
                <a:latin typeface="Arial"/>
              </a:rPr>
              <a:t>RETRIEVAL CONTROLLER</a:t>
            </a:r>
          </a:p>
          <a:p>
            <a:pPr>
              <a:spcAft>
                <a:spcPts val="0"/>
              </a:spcAft>
            </a:pPr>
            <a:r>
              <a:rPr sz="1000">
                <a:solidFill>
                  <a:srgbClr val="14142B"/>
                </a:solidFill>
                <a:latin typeface="Arial"/>
              </a:rPr>
              <a:t>WAIT / RETRIEVE / SUPPRESS</a:t>
            </a:r>
          </a:p>
        </p:txBody>
      </p:sp>
      <p:sp>
        <p:nvSpPr>
          <p:cNvPr id="11" name="TextBox 10"/>
          <p:cNvSpPr txBox="1"/>
          <p:nvPr/>
        </p:nvSpPr>
        <p:spPr>
          <a:xfrm>
            <a:off x="2404872" y="1783080"/>
            <a:ext cx="201168" cy="228600"/>
          </a:xfrm>
          <a:prstGeom prst="rect">
            <a:avLst/>
          </a:prstGeom>
          <a:noFill/>
        </p:spPr>
        <p:txBody>
          <a:bodyPr wrap="square" lIns="45720" rIns="45720" anchor="t">
            <a:spAutoFit/>
          </a:bodyPr>
          <a:lstStyle/>
          <a:p>
            <a:pPr algn="ctr">
              <a:lnSpc>
                <a:spcPct val="105000"/>
              </a:lnSpc>
            </a:pPr>
            <a:r>
              <a:rPr sz="1000" b="1">
                <a:solidFill>
                  <a:srgbClr val="FFFFFF"/>
                </a:solidFill>
                <a:latin typeface="Arial"/>
              </a:rPr>
              <a:t>2</a:t>
            </a:r>
          </a:p>
        </p:txBody>
      </p:sp>
      <p:sp>
        <p:nvSpPr>
          <p:cNvPr id="12" name="Oval 11"/>
          <p:cNvSpPr/>
          <p:nvPr/>
        </p:nvSpPr>
        <p:spPr>
          <a:xfrm>
            <a:off x="2386584" y="1728216"/>
            <a:ext cx="256032" cy="256032"/>
          </a:xfrm>
          <a:prstGeom prst="ellipse">
            <a:avLst/>
          </a:prstGeom>
          <a:solidFill>
            <a:srgbClr val="0FA3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91156" y="1741932"/>
            <a:ext cx="246888" cy="210312"/>
          </a:xfrm>
          <a:prstGeom prst="rect">
            <a:avLst/>
          </a:prstGeom>
          <a:noFill/>
        </p:spPr>
        <p:txBody>
          <a:bodyPr wrap="square" lIns="45720" rIns="45720" anchor="t">
            <a:spAutoFit/>
          </a:bodyPr>
          <a:lstStyle/>
          <a:p>
            <a:pPr algn="ctr">
              <a:lnSpc>
                <a:spcPct val="105000"/>
              </a:lnSpc>
            </a:pPr>
            <a:r>
              <a:rPr sz="900" b="1">
                <a:solidFill>
                  <a:srgbClr val="FFFFFF"/>
                </a:solidFill>
                <a:latin typeface="Arial"/>
              </a:rPr>
              <a:t>2</a:t>
            </a:r>
          </a:p>
        </p:txBody>
      </p:sp>
      <p:cxnSp>
        <p:nvCxnSpPr>
          <p:cNvPr id="14" name="Connector 13"/>
          <p:cNvCxnSpPr/>
          <p:nvPr/>
        </p:nvCxnSpPr>
        <p:spPr>
          <a:xfrm>
            <a:off x="3749039" y="2350008"/>
            <a:ext cx="228600" cy="0"/>
          </a:xfrm>
          <a:prstGeom prst="line">
            <a:avLst/>
          </a:prstGeom>
          <a:ln w="19050">
            <a:solidFill>
              <a:srgbClr val="63637E"/>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977639" y="1737360"/>
            <a:ext cx="1417320" cy="1234440"/>
          </a:xfrm>
          <a:prstGeom prst="roundRect">
            <a:avLst/>
          </a:prstGeom>
          <a:solidFill>
            <a:srgbClr val="EEE7FA"/>
          </a:solidFill>
          <a:ln w="16510">
            <a:solidFill>
              <a:srgbClr val="704EA6"/>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300" b="1">
                <a:solidFill>
                  <a:srgbClr val="704EA6"/>
                </a:solidFill>
                <a:latin typeface="Arial"/>
              </a:rPr>
              <a:t>MULTI-INTENT</a:t>
            </a:r>
          </a:p>
          <a:p>
            <a:pPr>
              <a:spcAft>
                <a:spcPts val="0"/>
              </a:spcAft>
            </a:pPr>
            <a:r>
              <a:rPr sz="1000">
                <a:solidFill>
                  <a:srgbClr val="14142B"/>
                </a:solidFill>
                <a:latin typeface="Arial"/>
              </a:rPr>
              <a:t>Decompose compound request</a:t>
            </a:r>
          </a:p>
        </p:txBody>
      </p:sp>
      <p:sp>
        <p:nvSpPr>
          <p:cNvPr id="16" name="TextBox 15"/>
          <p:cNvSpPr txBox="1"/>
          <p:nvPr/>
        </p:nvSpPr>
        <p:spPr>
          <a:xfrm>
            <a:off x="4050791" y="1783080"/>
            <a:ext cx="201168" cy="228600"/>
          </a:xfrm>
          <a:prstGeom prst="rect">
            <a:avLst/>
          </a:prstGeom>
          <a:noFill/>
        </p:spPr>
        <p:txBody>
          <a:bodyPr wrap="square" lIns="45720" rIns="45720" anchor="t">
            <a:spAutoFit/>
          </a:bodyPr>
          <a:lstStyle/>
          <a:p>
            <a:pPr algn="ctr">
              <a:lnSpc>
                <a:spcPct val="105000"/>
              </a:lnSpc>
            </a:pPr>
            <a:r>
              <a:rPr sz="1000" b="1">
                <a:solidFill>
                  <a:srgbClr val="FFFFFF"/>
                </a:solidFill>
                <a:latin typeface="Arial"/>
              </a:rPr>
              <a:t>3</a:t>
            </a:r>
          </a:p>
        </p:txBody>
      </p:sp>
      <p:sp>
        <p:nvSpPr>
          <p:cNvPr id="17" name="Oval 16"/>
          <p:cNvSpPr/>
          <p:nvPr/>
        </p:nvSpPr>
        <p:spPr>
          <a:xfrm>
            <a:off x="4032503" y="1728216"/>
            <a:ext cx="256032" cy="256032"/>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37076" y="1741932"/>
            <a:ext cx="246888" cy="210312"/>
          </a:xfrm>
          <a:prstGeom prst="rect">
            <a:avLst/>
          </a:prstGeom>
          <a:noFill/>
        </p:spPr>
        <p:txBody>
          <a:bodyPr wrap="square" lIns="45720" rIns="45720" anchor="t">
            <a:spAutoFit/>
          </a:bodyPr>
          <a:lstStyle/>
          <a:p>
            <a:pPr algn="ctr">
              <a:lnSpc>
                <a:spcPct val="105000"/>
              </a:lnSpc>
            </a:pPr>
            <a:r>
              <a:rPr sz="900" b="1">
                <a:solidFill>
                  <a:srgbClr val="FFFFFF"/>
                </a:solidFill>
                <a:latin typeface="Arial"/>
              </a:rPr>
              <a:t>3</a:t>
            </a:r>
          </a:p>
        </p:txBody>
      </p:sp>
      <p:cxnSp>
        <p:nvCxnSpPr>
          <p:cNvPr id="19" name="Connector 18"/>
          <p:cNvCxnSpPr/>
          <p:nvPr/>
        </p:nvCxnSpPr>
        <p:spPr>
          <a:xfrm>
            <a:off x="5394959" y="2350008"/>
            <a:ext cx="228601" cy="0"/>
          </a:xfrm>
          <a:prstGeom prst="line">
            <a:avLst/>
          </a:prstGeom>
          <a:ln w="19050">
            <a:solidFill>
              <a:srgbClr val="63637E"/>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623560" y="1737360"/>
            <a:ext cx="1417320" cy="1234440"/>
          </a:xfrm>
          <a:prstGeom prst="roundRect">
            <a:avLst/>
          </a:prstGeom>
          <a:solidFill>
            <a:srgbClr val="FFFFFF"/>
          </a:solidFill>
          <a:ln w="16510">
            <a:solidFill>
              <a:srgbClr val="0FA39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300" b="1">
                <a:solidFill>
                  <a:srgbClr val="0FA39E"/>
                </a:solidFill>
                <a:latin typeface="Arial"/>
              </a:rPr>
              <a:t>RETRIEVAL + FUSION</a:t>
            </a:r>
          </a:p>
          <a:p>
            <a:pPr>
              <a:spcAft>
                <a:spcPts val="0"/>
              </a:spcAft>
            </a:pPr>
            <a:r>
              <a:rPr sz="1000">
                <a:solidFill>
                  <a:srgbClr val="14142B"/>
                </a:solidFill>
                <a:latin typeface="Arial"/>
              </a:rPr>
              <a:t>Dense + sparse • rerank • dedupe</a:t>
            </a:r>
          </a:p>
        </p:txBody>
      </p:sp>
      <p:sp>
        <p:nvSpPr>
          <p:cNvPr id="21" name="TextBox 20"/>
          <p:cNvSpPr txBox="1"/>
          <p:nvPr/>
        </p:nvSpPr>
        <p:spPr>
          <a:xfrm>
            <a:off x="5696712" y="1783080"/>
            <a:ext cx="201168" cy="228600"/>
          </a:xfrm>
          <a:prstGeom prst="rect">
            <a:avLst/>
          </a:prstGeom>
          <a:noFill/>
        </p:spPr>
        <p:txBody>
          <a:bodyPr wrap="square" lIns="45720" rIns="45720" anchor="t">
            <a:spAutoFit/>
          </a:bodyPr>
          <a:lstStyle/>
          <a:p>
            <a:pPr algn="ctr">
              <a:lnSpc>
                <a:spcPct val="105000"/>
              </a:lnSpc>
            </a:pPr>
            <a:r>
              <a:rPr sz="1000" b="1">
                <a:solidFill>
                  <a:srgbClr val="FFFFFF"/>
                </a:solidFill>
                <a:latin typeface="Arial"/>
              </a:rPr>
              <a:t>4</a:t>
            </a:r>
          </a:p>
        </p:txBody>
      </p:sp>
      <p:sp>
        <p:nvSpPr>
          <p:cNvPr id="22" name="Oval 21"/>
          <p:cNvSpPr/>
          <p:nvPr/>
        </p:nvSpPr>
        <p:spPr>
          <a:xfrm>
            <a:off x="5678424" y="1728216"/>
            <a:ext cx="256032" cy="256032"/>
          </a:xfrm>
          <a:prstGeom prst="ellipse">
            <a:avLst/>
          </a:prstGeom>
          <a:solidFill>
            <a:srgbClr val="0FA3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82996" y="1741932"/>
            <a:ext cx="246888" cy="210312"/>
          </a:xfrm>
          <a:prstGeom prst="rect">
            <a:avLst/>
          </a:prstGeom>
          <a:noFill/>
        </p:spPr>
        <p:txBody>
          <a:bodyPr wrap="square" lIns="45720" rIns="45720" anchor="t">
            <a:spAutoFit/>
          </a:bodyPr>
          <a:lstStyle/>
          <a:p>
            <a:pPr algn="ctr">
              <a:lnSpc>
                <a:spcPct val="105000"/>
              </a:lnSpc>
            </a:pPr>
            <a:r>
              <a:rPr sz="900" b="1">
                <a:solidFill>
                  <a:srgbClr val="FFFFFF"/>
                </a:solidFill>
                <a:latin typeface="Arial"/>
              </a:rPr>
              <a:t>4</a:t>
            </a:r>
          </a:p>
        </p:txBody>
      </p:sp>
      <p:cxnSp>
        <p:nvCxnSpPr>
          <p:cNvPr id="24" name="Connector 23"/>
          <p:cNvCxnSpPr/>
          <p:nvPr/>
        </p:nvCxnSpPr>
        <p:spPr>
          <a:xfrm>
            <a:off x="7040880" y="2350008"/>
            <a:ext cx="228600" cy="0"/>
          </a:xfrm>
          <a:prstGeom prst="line">
            <a:avLst/>
          </a:prstGeom>
          <a:ln w="19050">
            <a:solidFill>
              <a:srgbClr val="63637E"/>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269480" y="1737360"/>
            <a:ext cx="1417320" cy="1234440"/>
          </a:xfrm>
          <a:prstGeom prst="roundRect">
            <a:avLst/>
          </a:prstGeom>
          <a:solidFill>
            <a:srgbClr val="EEE7FA"/>
          </a:solidFill>
          <a:ln w="16510">
            <a:solidFill>
              <a:srgbClr val="704EA6"/>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300" b="1">
                <a:solidFill>
                  <a:srgbClr val="704EA6"/>
                </a:solidFill>
                <a:latin typeface="Arial"/>
              </a:rPr>
              <a:t>SESSION SYNTHESIS</a:t>
            </a:r>
          </a:p>
          <a:p>
            <a:pPr>
              <a:spcAft>
                <a:spcPts val="0"/>
              </a:spcAft>
            </a:pPr>
            <a:r>
              <a:rPr sz="1000">
                <a:solidFill>
                  <a:srgbClr val="14142B"/>
                </a:solidFill>
                <a:latin typeface="Arial"/>
              </a:rPr>
              <a:t>Refine answer + citations</a:t>
            </a:r>
          </a:p>
        </p:txBody>
      </p:sp>
      <p:sp>
        <p:nvSpPr>
          <p:cNvPr id="26" name="TextBox 25"/>
          <p:cNvSpPr txBox="1"/>
          <p:nvPr/>
        </p:nvSpPr>
        <p:spPr>
          <a:xfrm>
            <a:off x="7342631" y="1783080"/>
            <a:ext cx="201168" cy="228600"/>
          </a:xfrm>
          <a:prstGeom prst="rect">
            <a:avLst/>
          </a:prstGeom>
          <a:noFill/>
        </p:spPr>
        <p:txBody>
          <a:bodyPr wrap="square" lIns="45720" rIns="45720" anchor="t">
            <a:spAutoFit/>
          </a:bodyPr>
          <a:lstStyle/>
          <a:p>
            <a:pPr algn="ctr">
              <a:lnSpc>
                <a:spcPct val="105000"/>
              </a:lnSpc>
            </a:pPr>
            <a:r>
              <a:rPr sz="1000" b="1">
                <a:solidFill>
                  <a:srgbClr val="FFFFFF"/>
                </a:solidFill>
                <a:latin typeface="Arial"/>
              </a:rPr>
              <a:t>5</a:t>
            </a:r>
          </a:p>
        </p:txBody>
      </p:sp>
      <p:sp>
        <p:nvSpPr>
          <p:cNvPr id="27" name="Oval 26"/>
          <p:cNvSpPr/>
          <p:nvPr/>
        </p:nvSpPr>
        <p:spPr>
          <a:xfrm>
            <a:off x="7324344" y="1728216"/>
            <a:ext cx="256032" cy="256032"/>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28916" y="1741932"/>
            <a:ext cx="246888" cy="210312"/>
          </a:xfrm>
          <a:prstGeom prst="rect">
            <a:avLst/>
          </a:prstGeom>
          <a:noFill/>
        </p:spPr>
        <p:txBody>
          <a:bodyPr wrap="square" lIns="45720" rIns="45720" anchor="t">
            <a:spAutoFit/>
          </a:bodyPr>
          <a:lstStyle/>
          <a:p>
            <a:pPr algn="ctr">
              <a:lnSpc>
                <a:spcPct val="105000"/>
              </a:lnSpc>
            </a:pPr>
            <a:r>
              <a:rPr sz="900" b="1">
                <a:solidFill>
                  <a:srgbClr val="FFFFFF"/>
                </a:solidFill>
                <a:latin typeface="Arial"/>
              </a:rPr>
              <a:t>5</a:t>
            </a:r>
          </a:p>
        </p:txBody>
      </p:sp>
      <p:cxnSp>
        <p:nvCxnSpPr>
          <p:cNvPr id="29" name="Connector 28"/>
          <p:cNvCxnSpPr/>
          <p:nvPr/>
        </p:nvCxnSpPr>
        <p:spPr>
          <a:xfrm>
            <a:off x="8686800" y="2350008"/>
            <a:ext cx="228600" cy="0"/>
          </a:xfrm>
          <a:prstGeom prst="line">
            <a:avLst/>
          </a:prstGeom>
          <a:ln w="19050">
            <a:solidFill>
              <a:srgbClr val="63637E"/>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915400" y="1737360"/>
            <a:ext cx="1417320" cy="1234440"/>
          </a:xfrm>
          <a:prstGeom prst="roundRect">
            <a:avLst/>
          </a:prstGeom>
          <a:solidFill>
            <a:srgbClr val="FFFFFF"/>
          </a:solidFill>
          <a:ln w="16510">
            <a:solidFill>
              <a:srgbClr val="0FA39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300" b="1">
                <a:solidFill>
                  <a:srgbClr val="0FA39E"/>
                </a:solidFill>
                <a:latin typeface="Arial"/>
              </a:rPr>
              <a:t>STREAM OUTPUT</a:t>
            </a:r>
          </a:p>
          <a:p>
            <a:pPr>
              <a:spcAft>
                <a:spcPts val="0"/>
              </a:spcAft>
            </a:pPr>
            <a:r>
              <a:rPr sz="1000">
                <a:solidFill>
                  <a:srgbClr val="14142B"/>
                </a:solidFill>
                <a:latin typeface="Arial"/>
              </a:rPr>
              <a:t>Answer + telemetry</a:t>
            </a:r>
          </a:p>
        </p:txBody>
      </p:sp>
      <p:sp>
        <p:nvSpPr>
          <p:cNvPr id="31" name="TextBox 30"/>
          <p:cNvSpPr txBox="1"/>
          <p:nvPr/>
        </p:nvSpPr>
        <p:spPr>
          <a:xfrm>
            <a:off x="8988552" y="1783080"/>
            <a:ext cx="201168" cy="228600"/>
          </a:xfrm>
          <a:prstGeom prst="rect">
            <a:avLst/>
          </a:prstGeom>
          <a:noFill/>
        </p:spPr>
        <p:txBody>
          <a:bodyPr wrap="square" lIns="45720" rIns="45720" anchor="t">
            <a:spAutoFit/>
          </a:bodyPr>
          <a:lstStyle/>
          <a:p>
            <a:pPr algn="ctr">
              <a:lnSpc>
                <a:spcPct val="105000"/>
              </a:lnSpc>
            </a:pPr>
            <a:r>
              <a:rPr sz="1000" b="1">
                <a:solidFill>
                  <a:srgbClr val="FFFFFF"/>
                </a:solidFill>
                <a:latin typeface="Arial"/>
              </a:rPr>
              <a:t>6</a:t>
            </a:r>
          </a:p>
        </p:txBody>
      </p:sp>
      <p:sp>
        <p:nvSpPr>
          <p:cNvPr id="32" name="Oval 31"/>
          <p:cNvSpPr/>
          <p:nvPr/>
        </p:nvSpPr>
        <p:spPr>
          <a:xfrm>
            <a:off x="8970264" y="1728216"/>
            <a:ext cx="256032" cy="256032"/>
          </a:xfrm>
          <a:prstGeom prst="ellipse">
            <a:avLst/>
          </a:prstGeom>
          <a:solidFill>
            <a:srgbClr val="0FA3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74836" y="1741932"/>
            <a:ext cx="246888" cy="210312"/>
          </a:xfrm>
          <a:prstGeom prst="rect">
            <a:avLst/>
          </a:prstGeom>
          <a:noFill/>
        </p:spPr>
        <p:txBody>
          <a:bodyPr wrap="square" lIns="45720" rIns="45720" anchor="t">
            <a:spAutoFit/>
          </a:bodyPr>
          <a:lstStyle/>
          <a:p>
            <a:pPr algn="ctr">
              <a:lnSpc>
                <a:spcPct val="105000"/>
              </a:lnSpc>
            </a:pPr>
            <a:r>
              <a:rPr sz="900" b="1">
                <a:solidFill>
                  <a:srgbClr val="FFFFFF"/>
                </a:solidFill>
                <a:latin typeface="Arial"/>
              </a:rPr>
              <a:t>6</a:t>
            </a:r>
          </a:p>
        </p:txBody>
      </p:sp>
      <p:sp>
        <p:nvSpPr>
          <p:cNvPr id="34" name="Rounded Rectangle 33"/>
          <p:cNvSpPr/>
          <p:nvPr/>
        </p:nvSpPr>
        <p:spPr>
          <a:xfrm>
            <a:off x="777240" y="3429000"/>
            <a:ext cx="2788920" cy="1417320"/>
          </a:xfrm>
          <a:prstGeom prst="roundRect">
            <a:avLst/>
          </a:prstGeom>
          <a:solidFill>
            <a:srgbClr val="E7F7F5"/>
          </a:solidFill>
          <a:ln w="16510">
            <a:solidFill>
              <a:srgbClr val="0FA39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500" b="1">
                <a:solidFill>
                  <a:srgbClr val="0FA39E"/>
                </a:solidFill>
                <a:latin typeface="Arial"/>
              </a:rPr>
              <a:t>EARLY RETRIEVAL</a:t>
            </a:r>
          </a:p>
          <a:p>
            <a:pPr>
              <a:spcAft>
                <a:spcPts val="0"/>
              </a:spcAft>
            </a:pPr>
            <a:r>
              <a:rPr sz="1200">
                <a:solidFill>
                  <a:srgbClr val="14142B"/>
                </a:solidFill>
                <a:latin typeface="Arial"/>
              </a:rPr>
              <a:t>Start searching once semantic stability is sufficient; do not wait blindly for utterance end.</a:t>
            </a:r>
          </a:p>
        </p:txBody>
      </p:sp>
      <p:sp>
        <p:nvSpPr>
          <p:cNvPr id="35" name="Rounded Rectangle 34"/>
          <p:cNvSpPr/>
          <p:nvPr/>
        </p:nvSpPr>
        <p:spPr>
          <a:xfrm>
            <a:off x="3703320" y="3429000"/>
            <a:ext cx="2788920" cy="1417320"/>
          </a:xfrm>
          <a:prstGeom prst="roundRect">
            <a:avLst/>
          </a:prstGeom>
          <a:solidFill>
            <a:srgbClr val="EEE7FA"/>
          </a:solidFill>
          <a:ln w="16510">
            <a:solidFill>
              <a:srgbClr val="704EA6"/>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500" b="1">
                <a:solidFill>
                  <a:srgbClr val="704EA6"/>
                </a:solidFill>
                <a:latin typeface="Arial"/>
              </a:rPr>
              <a:t>EVIDENCE FUSION</a:t>
            </a:r>
          </a:p>
          <a:p>
            <a:pPr>
              <a:spcAft>
                <a:spcPts val="0"/>
              </a:spcAft>
            </a:pPr>
            <a:r>
              <a:rPr sz="1200">
                <a:solidFill>
                  <a:srgbClr val="14142B"/>
                </a:solidFill>
                <a:latin typeface="Arial"/>
              </a:rPr>
              <a:t>Merge results from sub-queries, rerank and deduplicate before synthesis.</a:t>
            </a:r>
          </a:p>
        </p:txBody>
      </p:sp>
      <p:sp>
        <p:nvSpPr>
          <p:cNvPr id="36" name="Rounded Rectangle 35"/>
          <p:cNvSpPr/>
          <p:nvPr/>
        </p:nvSpPr>
        <p:spPr>
          <a:xfrm>
            <a:off x="6629400" y="3429000"/>
            <a:ext cx="2788920" cy="1417320"/>
          </a:xfrm>
          <a:prstGeom prst="roundRect">
            <a:avLst/>
          </a:prstGeom>
          <a:solidFill>
            <a:srgbClr val="E7F7F5"/>
          </a:solidFill>
          <a:ln w="16510">
            <a:solidFill>
              <a:srgbClr val="0FA39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500" b="1">
                <a:solidFill>
                  <a:srgbClr val="0FA39E"/>
                </a:solidFill>
                <a:latin typeface="Arial"/>
              </a:rPr>
              <a:t>REFINE, DON'T RESTART</a:t>
            </a:r>
          </a:p>
          <a:p>
            <a:pPr>
              <a:spcAft>
                <a:spcPts val="0"/>
              </a:spcAft>
            </a:pPr>
            <a:r>
              <a:rPr sz="1200">
                <a:solidFill>
                  <a:srgbClr val="14142B"/>
                </a:solidFill>
                <a:latin typeface="Arial"/>
              </a:rPr>
              <a:t>When a late constraint arrives, update affected claims while preserving valid session context.</a:t>
            </a:r>
          </a:p>
        </p:txBody>
      </p:sp>
      <p:sp>
        <p:nvSpPr>
          <p:cNvPr id="37" name="TextBox 36"/>
          <p:cNvSpPr txBox="1"/>
          <p:nvPr/>
        </p:nvSpPr>
        <p:spPr>
          <a:xfrm>
            <a:off x="777240" y="5257800"/>
            <a:ext cx="8869680" cy="502920"/>
          </a:xfrm>
          <a:prstGeom prst="rect">
            <a:avLst/>
          </a:prstGeom>
          <a:noFill/>
        </p:spPr>
        <p:txBody>
          <a:bodyPr wrap="square" lIns="45720" rIns="45720" anchor="t">
            <a:spAutoFit/>
          </a:bodyPr>
          <a:lstStyle/>
          <a:p>
            <a:pPr algn="ctr">
              <a:lnSpc>
                <a:spcPct val="105000"/>
              </a:lnSpc>
            </a:pPr>
            <a:r>
              <a:rPr sz="1700" b="1">
                <a:solidFill>
                  <a:srgbClr val="14142B"/>
                </a:solidFill>
                <a:latin typeface="Arial"/>
              </a:rPr>
              <a:t>Output: streamed answer + grounded citations + structured observability telemetry</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a:p>
        </p:txBody>
      </p:sp>
      <p:sp>
        <p:nvSpPr>
          <p:cNvPr id="4" name="TextBox 3"/>
          <p:cNvSpPr txBox="1"/>
          <p:nvPr/>
        </p:nvSpPr>
        <p:spPr>
          <a:xfrm>
            <a:off x="777240" y="1353312"/>
            <a:ext cx="5669280" cy="365760"/>
          </a:xfrm>
          <a:prstGeom prst="rect">
            <a:avLst/>
          </a:prstGeom>
          <a:noFill/>
        </p:spPr>
        <p:txBody>
          <a:bodyPr wrap="square" lIns="45720" rIns="45720" anchor="t">
            <a:spAutoFit/>
          </a:bodyPr>
          <a:lstStyle/>
          <a:p>
            <a:pPr algn="l">
              <a:lnSpc>
                <a:spcPct val="105000"/>
              </a:lnSpc>
            </a:pPr>
            <a:r>
              <a:rPr sz="2100" b="1">
                <a:solidFill>
                  <a:srgbClr val="6D28D9"/>
                </a:solidFill>
                <a:latin typeface="Arial"/>
              </a:rPr>
              <a:t>Demo scenario: evolving workshop request</a:t>
            </a:r>
          </a:p>
        </p:txBody>
      </p:sp>
      <p:sp>
        <p:nvSpPr>
          <p:cNvPr id="5" name="Rounded Rectangle 4"/>
          <p:cNvSpPr/>
          <p:nvPr/>
        </p:nvSpPr>
        <p:spPr>
          <a:xfrm>
            <a:off x="777240" y="1874519"/>
            <a:ext cx="6080760" cy="658368"/>
          </a:xfrm>
          <a:prstGeom prst="roundRect">
            <a:avLst/>
          </a:prstGeom>
          <a:solidFill>
            <a:srgbClr val="FFFFFF"/>
          </a:solidFill>
          <a:ln w="16510">
            <a:solidFill>
              <a:srgbClr val="704EA6"/>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300" b="1">
                <a:solidFill>
                  <a:srgbClr val="704EA6"/>
                </a:solidFill>
                <a:latin typeface="Arial"/>
              </a:rPr>
              <a:t>0.0s</a:t>
            </a:r>
          </a:p>
          <a:p>
            <a:pPr>
              <a:spcAft>
                <a:spcPts val="0"/>
              </a:spcAft>
            </a:pPr>
            <a:r>
              <a:rPr sz="1100">
                <a:solidFill>
                  <a:srgbClr val="14142B"/>
                </a:solidFill>
                <a:latin typeface="Arial"/>
              </a:rPr>
              <a:t>USER STREAM
“I need to plan a customer workshop…”</a:t>
            </a:r>
          </a:p>
        </p:txBody>
      </p:sp>
      <p:sp>
        <p:nvSpPr>
          <p:cNvPr id="6" name="TextBox 5"/>
          <p:cNvSpPr txBox="1"/>
          <p:nvPr/>
        </p:nvSpPr>
        <p:spPr>
          <a:xfrm>
            <a:off x="7132320" y="1984248"/>
            <a:ext cx="2423160" cy="384048"/>
          </a:xfrm>
          <a:prstGeom prst="rect">
            <a:avLst/>
          </a:prstGeom>
          <a:noFill/>
        </p:spPr>
        <p:txBody>
          <a:bodyPr wrap="square" lIns="45720" rIns="45720" anchor="ctr">
            <a:spAutoFit/>
          </a:bodyPr>
          <a:lstStyle/>
          <a:p>
            <a:pPr algn="ctr">
              <a:lnSpc>
                <a:spcPct val="105000"/>
              </a:lnSpc>
            </a:pPr>
            <a:r>
              <a:rPr sz="1400" b="1">
                <a:solidFill>
                  <a:srgbClr val="FFFFFF"/>
                </a:solidFill>
                <a:latin typeface="Arial"/>
              </a:rPr>
              <a:t>WAIT</a:t>
            </a:r>
          </a:p>
        </p:txBody>
      </p:sp>
      <p:sp>
        <p:nvSpPr>
          <p:cNvPr id="7" name="Rounded Rectangle 6"/>
          <p:cNvSpPr/>
          <p:nvPr/>
        </p:nvSpPr>
        <p:spPr>
          <a:xfrm>
            <a:off x="6995160" y="1874519"/>
            <a:ext cx="2697480" cy="658368"/>
          </a:xfrm>
          <a:prstGeom prst="round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86600" y="1993391"/>
            <a:ext cx="2514600" cy="384048"/>
          </a:xfrm>
          <a:prstGeom prst="rect">
            <a:avLst/>
          </a:prstGeom>
          <a:noFill/>
        </p:spPr>
        <p:txBody>
          <a:bodyPr wrap="square" lIns="45720" rIns="45720" anchor="ctr">
            <a:spAutoFit/>
          </a:bodyPr>
          <a:lstStyle/>
          <a:p>
            <a:pPr algn="ctr">
              <a:lnSpc>
                <a:spcPct val="105000"/>
              </a:lnSpc>
            </a:pPr>
            <a:r>
              <a:rPr sz="1400" b="1">
                <a:solidFill>
                  <a:srgbClr val="FFFFFF"/>
                </a:solidFill>
                <a:latin typeface="Arial"/>
              </a:rPr>
              <a:t>WAIT</a:t>
            </a:r>
          </a:p>
        </p:txBody>
      </p:sp>
      <p:sp>
        <p:nvSpPr>
          <p:cNvPr id="9" name="Rounded Rectangle 8"/>
          <p:cNvSpPr/>
          <p:nvPr/>
        </p:nvSpPr>
        <p:spPr>
          <a:xfrm>
            <a:off x="777240" y="2624327"/>
            <a:ext cx="6080760" cy="658368"/>
          </a:xfrm>
          <a:prstGeom prst="roundRect">
            <a:avLst/>
          </a:prstGeom>
          <a:solidFill>
            <a:srgbClr val="FFFFFF"/>
          </a:solidFill>
          <a:ln w="16510">
            <a:solidFill>
              <a:srgbClr val="0FA39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300" b="1">
                <a:solidFill>
                  <a:srgbClr val="0FA39E"/>
                </a:solidFill>
                <a:latin typeface="Arial"/>
              </a:rPr>
              <a:t>0.8s</a:t>
            </a:r>
          </a:p>
          <a:p>
            <a:pPr>
              <a:spcAft>
                <a:spcPts val="0"/>
              </a:spcAft>
            </a:pPr>
            <a:r>
              <a:rPr sz="1100">
                <a:solidFill>
                  <a:srgbClr val="14142B"/>
                </a:solidFill>
                <a:latin typeface="Arial"/>
              </a:rPr>
              <a:t>NEW DETAIL
“…for 30 people in Pune.”</a:t>
            </a:r>
          </a:p>
        </p:txBody>
      </p:sp>
      <p:sp>
        <p:nvSpPr>
          <p:cNvPr id="10" name="TextBox 9"/>
          <p:cNvSpPr txBox="1"/>
          <p:nvPr/>
        </p:nvSpPr>
        <p:spPr>
          <a:xfrm>
            <a:off x="7132320" y="2734056"/>
            <a:ext cx="2423160" cy="384048"/>
          </a:xfrm>
          <a:prstGeom prst="rect">
            <a:avLst/>
          </a:prstGeom>
          <a:noFill/>
        </p:spPr>
        <p:txBody>
          <a:bodyPr wrap="square" lIns="45720" rIns="45720" anchor="ctr">
            <a:spAutoFit/>
          </a:bodyPr>
          <a:lstStyle/>
          <a:p>
            <a:pPr algn="ctr">
              <a:lnSpc>
                <a:spcPct val="105000"/>
              </a:lnSpc>
            </a:pPr>
            <a:r>
              <a:rPr sz="1400" b="1">
                <a:solidFill>
                  <a:srgbClr val="FFFFFF"/>
                </a:solidFill>
                <a:latin typeface="Arial"/>
              </a:rPr>
              <a:t>EARLY RETRIEVE</a:t>
            </a:r>
          </a:p>
        </p:txBody>
      </p:sp>
      <p:sp>
        <p:nvSpPr>
          <p:cNvPr id="11" name="Rounded Rectangle 10"/>
          <p:cNvSpPr/>
          <p:nvPr/>
        </p:nvSpPr>
        <p:spPr>
          <a:xfrm>
            <a:off x="6995160" y="2624327"/>
            <a:ext cx="2697480" cy="658368"/>
          </a:xfrm>
          <a:prstGeom prst="roundRect">
            <a:avLst/>
          </a:prstGeom>
          <a:solidFill>
            <a:srgbClr val="0FA3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86600" y="2743199"/>
            <a:ext cx="2514600" cy="384048"/>
          </a:xfrm>
          <a:prstGeom prst="rect">
            <a:avLst/>
          </a:prstGeom>
          <a:noFill/>
        </p:spPr>
        <p:txBody>
          <a:bodyPr wrap="square" lIns="45720" rIns="45720" anchor="ctr">
            <a:spAutoFit/>
          </a:bodyPr>
          <a:lstStyle/>
          <a:p>
            <a:pPr algn="ctr">
              <a:lnSpc>
                <a:spcPct val="105000"/>
              </a:lnSpc>
            </a:pPr>
            <a:r>
              <a:rPr sz="1400" b="1">
                <a:solidFill>
                  <a:srgbClr val="FFFFFF"/>
                </a:solidFill>
                <a:latin typeface="Arial"/>
              </a:rPr>
              <a:t>EARLY RETRIEVE</a:t>
            </a:r>
          </a:p>
        </p:txBody>
      </p:sp>
      <p:sp>
        <p:nvSpPr>
          <p:cNvPr id="13" name="Rounded Rectangle 12"/>
          <p:cNvSpPr/>
          <p:nvPr/>
        </p:nvSpPr>
        <p:spPr>
          <a:xfrm>
            <a:off x="777240" y="3374135"/>
            <a:ext cx="6080760" cy="658368"/>
          </a:xfrm>
          <a:prstGeom prst="roundRect">
            <a:avLst/>
          </a:prstGeom>
          <a:solidFill>
            <a:srgbClr val="FFFFFF"/>
          </a:solidFill>
          <a:ln w="16510">
            <a:solidFill>
              <a:srgbClr val="704EA6"/>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300" b="1">
                <a:solidFill>
                  <a:srgbClr val="704EA6"/>
                </a:solidFill>
                <a:latin typeface="Arial"/>
              </a:rPr>
              <a:t>1.6s</a:t>
            </a:r>
          </a:p>
          <a:p>
            <a:pPr>
              <a:spcAft>
                <a:spcPts val="0"/>
              </a:spcAft>
            </a:pPr>
            <a:r>
              <a:rPr sz="1100">
                <a:solidFill>
                  <a:srgbClr val="14142B"/>
                </a:solidFill>
                <a:latin typeface="Arial"/>
              </a:rPr>
              <a:t>COMPOUND INTENT
“…cancellation policy and catering options.”</a:t>
            </a:r>
          </a:p>
        </p:txBody>
      </p:sp>
      <p:sp>
        <p:nvSpPr>
          <p:cNvPr id="14" name="TextBox 13"/>
          <p:cNvSpPr txBox="1"/>
          <p:nvPr/>
        </p:nvSpPr>
        <p:spPr>
          <a:xfrm>
            <a:off x="7132320" y="3483863"/>
            <a:ext cx="2423160" cy="384048"/>
          </a:xfrm>
          <a:prstGeom prst="rect">
            <a:avLst/>
          </a:prstGeom>
          <a:noFill/>
        </p:spPr>
        <p:txBody>
          <a:bodyPr wrap="square" lIns="45720" rIns="45720" anchor="ctr">
            <a:spAutoFit/>
          </a:bodyPr>
          <a:lstStyle/>
          <a:p>
            <a:pPr algn="ctr">
              <a:lnSpc>
                <a:spcPct val="105000"/>
              </a:lnSpc>
            </a:pPr>
            <a:r>
              <a:rPr sz="1400" b="1">
                <a:solidFill>
                  <a:srgbClr val="FFFFFF"/>
                </a:solidFill>
                <a:latin typeface="Arial"/>
              </a:rPr>
              <a:t>3 SUB-QUERIES</a:t>
            </a:r>
          </a:p>
        </p:txBody>
      </p:sp>
      <p:sp>
        <p:nvSpPr>
          <p:cNvPr id="15" name="Rounded Rectangle 14"/>
          <p:cNvSpPr/>
          <p:nvPr/>
        </p:nvSpPr>
        <p:spPr>
          <a:xfrm>
            <a:off x="6995160" y="3374135"/>
            <a:ext cx="2697480" cy="658368"/>
          </a:xfrm>
          <a:prstGeom prst="round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86600" y="3493007"/>
            <a:ext cx="2514600" cy="384048"/>
          </a:xfrm>
          <a:prstGeom prst="rect">
            <a:avLst/>
          </a:prstGeom>
          <a:noFill/>
        </p:spPr>
        <p:txBody>
          <a:bodyPr wrap="square" lIns="45720" rIns="45720" anchor="ctr">
            <a:spAutoFit/>
          </a:bodyPr>
          <a:lstStyle/>
          <a:p>
            <a:pPr algn="ctr">
              <a:lnSpc>
                <a:spcPct val="105000"/>
              </a:lnSpc>
            </a:pPr>
            <a:r>
              <a:rPr sz="1400" b="1">
                <a:solidFill>
                  <a:srgbClr val="FFFFFF"/>
                </a:solidFill>
                <a:latin typeface="Arial"/>
              </a:rPr>
              <a:t>3 SUB-QUERIES</a:t>
            </a:r>
          </a:p>
        </p:txBody>
      </p:sp>
      <p:sp>
        <p:nvSpPr>
          <p:cNvPr id="17" name="Rounded Rectangle 16"/>
          <p:cNvSpPr/>
          <p:nvPr/>
        </p:nvSpPr>
        <p:spPr>
          <a:xfrm>
            <a:off x="777240" y="4123944"/>
            <a:ext cx="6080760" cy="658368"/>
          </a:xfrm>
          <a:prstGeom prst="roundRect">
            <a:avLst/>
          </a:prstGeom>
          <a:solidFill>
            <a:srgbClr val="FFFFFF"/>
          </a:solidFill>
          <a:ln w="16510">
            <a:solidFill>
              <a:srgbClr val="0FA39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300" b="1">
                <a:solidFill>
                  <a:srgbClr val="0FA39E"/>
                </a:solidFill>
                <a:latin typeface="Arial"/>
              </a:rPr>
              <a:t>2.1s</a:t>
            </a:r>
          </a:p>
          <a:p>
            <a:pPr>
              <a:spcAft>
                <a:spcPts val="0"/>
              </a:spcAft>
            </a:pPr>
            <a:r>
              <a:rPr sz="1100">
                <a:solidFill>
                  <a:srgbClr val="14142B"/>
                </a:solidFill>
                <a:latin typeface="Arial"/>
              </a:rPr>
              <a:t>UTTERANCE END
Fuse evidence and answer</a:t>
            </a:r>
          </a:p>
        </p:txBody>
      </p:sp>
      <p:sp>
        <p:nvSpPr>
          <p:cNvPr id="18" name="TextBox 17"/>
          <p:cNvSpPr txBox="1"/>
          <p:nvPr/>
        </p:nvSpPr>
        <p:spPr>
          <a:xfrm>
            <a:off x="7132320" y="4233672"/>
            <a:ext cx="2423160" cy="384048"/>
          </a:xfrm>
          <a:prstGeom prst="rect">
            <a:avLst/>
          </a:prstGeom>
          <a:noFill/>
        </p:spPr>
        <p:txBody>
          <a:bodyPr wrap="square" lIns="45720" rIns="45720" anchor="ctr">
            <a:spAutoFit/>
          </a:bodyPr>
          <a:lstStyle/>
          <a:p>
            <a:pPr algn="ctr">
              <a:lnSpc>
                <a:spcPct val="105000"/>
              </a:lnSpc>
            </a:pPr>
            <a:r>
              <a:rPr sz="1400" b="1">
                <a:solidFill>
                  <a:srgbClr val="FFFFFF"/>
                </a:solidFill>
                <a:latin typeface="Arial"/>
              </a:rPr>
              <a:t>SYNTHESIZE</a:t>
            </a:r>
          </a:p>
        </p:txBody>
      </p:sp>
      <p:sp>
        <p:nvSpPr>
          <p:cNvPr id="19" name="Rounded Rectangle 18"/>
          <p:cNvSpPr/>
          <p:nvPr/>
        </p:nvSpPr>
        <p:spPr>
          <a:xfrm>
            <a:off x="6995160" y="4123944"/>
            <a:ext cx="2697480" cy="658368"/>
          </a:xfrm>
          <a:prstGeom prst="roundRect">
            <a:avLst/>
          </a:prstGeom>
          <a:solidFill>
            <a:srgbClr val="0FA3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86600" y="4242816"/>
            <a:ext cx="2514600" cy="384048"/>
          </a:xfrm>
          <a:prstGeom prst="rect">
            <a:avLst/>
          </a:prstGeom>
          <a:noFill/>
        </p:spPr>
        <p:txBody>
          <a:bodyPr wrap="square" lIns="45720" rIns="45720" anchor="ctr">
            <a:spAutoFit/>
          </a:bodyPr>
          <a:lstStyle/>
          <a:p>
            <a:pPr algn="ctr">
              <a:lnSpc>
                <a:spcPct val="105000"/>
              </a:lnSpc>
            </a:pPr>
            <a:r>
              <a:rPr sz="1400" b="1">
                <a:solidFill>
                  <a:srgbClr val="FFFFFF"/>
                </a:solidFill>
                <a:latin typeface="Arial"/>
              </a:rPr>
              <a:t>SYNTHESIZE</a:t>
            </a:r>
          </a:p>
        </p:txBody>
      </p:sp>
      <p:sp>
        <p:nvSpPr>
          <p:cNvPr id="21" name="Rounded Rectangle 20"/>
          <p:cNvSpPr/>
          <p:nvPr/>
        </p:nvSpPr>
        <p:spPr>
          <a:xfrm>
            <a:off x="777240" y="4873752"/>
            <a:ext cx="6080760" cy="658368"/>
          </a:xfrm>
          <a:prstGeom prst="roundRect">
            <a:avLst/>
          </a:prstGeom>
          <a:solidFill>
            <a:srgbClr val="FFFFFF"/>
          </a:solidFill>
          <a:ln w="16510">
            <a:solidFill>
              <a:srgbClr val="704EA6"/>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300" b="1">
                <a:solidFill>
                  <a:srgbClr val="704EA6"/>
                </a:solidFill>
                <a:latin typeface="Arial"/>
              </a:rPr>
              <a:t>LATER</a:t>
            </a:r>
          </a:p>
          <a:p>
            <a:pPr>
              <a:spcAft>
                <a:spcPts val="0"/>
              </a:spcAft>
            </a:pPr>
            <a:r>
              <a:rPr sz="1100">
                <a:solidFill>
                  <a:srgbClr val="14142B"/>
                </a:solidFill>
                <a:latin typeface="Arial"/>
              </a:rPr>
              <a:t>LATE DETAIL
New constraint arrives</a:t>
            </a:r>
          </a:p>
        </p:txBody>
      </p:sp>
      <p:sp>
        <p:nvSpPr>
          <p:cNvPr id="22" name="TextBox 21"/>
          <p:cNvSpPr txBox="1"/>
          <p:nvPr/>
        </p:nvSpPr>
        <p:spPr>
          <a:xfrm>
            <a:off x="7132320" y="4983480"/>
            <a:ext cx="2423160" cy="384048"/>
          </a:xfrm>
          <a:prstGeom prst="rect">
            <a:avLst/>
          </a:prstGeom>
          <a:noFill/>
        </p:spPr>
        <p:txBody>
          <a:bodyPr wrap="square" lIns="45720" rIns="45720" anchor="ctr">
            <a:spAutoFit/>
          </a:bodyPr>
          <a:lstStyle/>
          <a:p>
            <a:pPr algn="ctr">
              <a:lnSpc>
                <a:spcPct val="105000"/>
              </a:lnSpc>
            </a:pPr>
            <a:r>
              <a:rPr sz="1400" b="1">
                <a:solidFill>
                  <a:srgbClr val="FFFFFF"/>
                </a:solidFill>
                <a:latin typeface="Arial"/>
              </a:rPr>
              <a:t>REFINE ANSWER V2</a:t>
            </a:r>
          </a:p>
        </p:txBody>
      </p:sp>
      <p:sp>
        <p:nvSpPr>
          <p:cNvPr id="23" name="Rounded Rectangle 22"/>
          <p:cNvSpPr/>
          <p:nvPr/>
        </p:nvSpPr>
        <p:spPr>
          <a:xfrm>
            <a:off x="6995160" y="4873752"/>
            <a:ext cx="2697480" cy="658368"/>
          </a:xfrm>
          <a:prstGeom prst="round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86600" y="4992624"/>
            <a:ext cx="2514600" cy="384048"/>
          </a:xfrm>
          <a:prstGeom prst="rect">
            <a:avLst/>
          </a:prstGeom>
          <a:noFill/>
        </p:spPr>
        <p:txBody>
          <a:bodyPr wrap="square" lIns="45720" rIns="45720" anchor="ctr">
            <a:spAutoFit/>
          </a:bodyPr>
          <a:lstStyle/>
          <a:p>
            <a:pPr algn="ctr">
              <a:lnSpc>
                <a:spcPct val="105000"/>
              </a:lnSpc>
            </a:pPr>
            <a:r>
              <a:rPr sz="1400" b="1">
                <a:solidFill>
                  <a:srgbClr val="FFFFFF"/>
                </a:solidFill>
                <a:latin typeface="Arial"/>
              </a:rPr>
              <a:t>REFINE ANSWER V2</a:t>
            </a:r>
          </a:p>
        </p:txBody>
      </p:sp>
      <p:sp>
        <p:nvSpPr>
          <p:cNvPr id="25" name="TextBox 24"/>
          <p:cNvSpPr txBox="1"/>
          <p:nvPr/>
        </p:nvSpPr>
        <p:spPr>
          <a:xfrm>
            <a:off x="777240" y="5623560"/>
            <a:ext cx="2468880" cy="320040"/>
          </a:xfrm>
          <a:prstGeom prst="rect">
            <a:avLst/>
          </a:prstGeom>
          <a:noFill/>
        </p:spPr>
        <p:txBody>
          <a:bodyPr wrap="square" lIns="45720" rIns="45720" anchor="t">
            <a:spAutoFit/>
          </a:bodyPr>
          <a:lstStyle/>
          <a:p>
            <a:pPr algn="l">
              <a:lnSpc>
                <a:spcPct val="105000"/>
              </a:lnSpc>
            </a:pPr>
            <a:r>
              <a:rPr sz="1700" b="1">
                <a:solidFill>
                  <a:srgbClr val="14142B"/>
                </a:solidFill>
                <a:latin typeface="Arial"/>
              </a:rPr>
              <a:t>What the jury should see</a:t>
            </a:r>
          </a:p>
        </p:txBody>
      </p:sp>
      <p:sp>
        <p:nvSpPr>
          <p:cNvPr id="26" name="TextBox 25"/>
          <p:cNvSpPr txBox="1"/>
          <p:nvPr/>
        </p:nvSpPr>
        <p:spPr>
          <a:xfrm>
            <a:off x="2743200" y="5577840"/>
            <a:ext cx="6858000" cy="502920"/>
          </a:xfrm>
          <a:prstGeom prst="rect">
            <a:avLst/>
          </a:prstGeom>
          <a:noFill/>
        </p:spPr>
        <p:txBody>
          <a:bodyPr wrap="square" lIns="45720" rIns="45720" anchor="t">
            <a:spAutoFit/>
          </a:bodyPr>
          <a:lstStyle/>
          <a:p>
            <a:pPr algn="l">
              <a:lnSpc>
                <a:spcPct val="105000"/>
              </a:lnSpc>
            </a:pPr>
            <a:r>
              <a:rPr sz="1500" b="0">
                <a:solidFill>
                  <a:srgbClr val="63637E"/>
                </a:solidFill>
                <a:latin typeface="Arial"/>
              </a:rPr>
              <a:t>The system does not restart the conversation, does not retrieve on every partial chunk, and shows which evidence supports each factual claim.</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
        <p:nvSpPr>
          <p:cNvPr id="4" name="TextBox 3"/>
          <p:cNvSpPr txBox="1"/>
          <p:nvPr/>
        </p:nvSpPr>
        <p:spPr>
          <a:xfrm>
            <a:off x="777240" y="1353312"/>
            <a:ext cx="5029200" cy="365760"/>
          </a:xfrm>
          <a:prstGeom prst="rect">
            <a:avLst/>
          </a:prstGeom>
          <a:noFill/>
        </p:spPr>
        <p:txBody>
          <a:bodyPr wrap="square" lIns="45720" rIns="45720" anchor="t">
            <a:spAutoFit/>
          </a:bodyPr>
          <a:lstStyle/>
          <a:p>
            <a:pPr algn="l">
              <a:lnSpc>
                <a:spcPct val="105000"/>
              </a:lnSpc>
            </a:pPr>
            <a:r>
              <a:rPr sz="2100" b="1">
                <a:solidFill>
                  <a:srgbClr val="6D28D9"/>
                </a:solidFill>
                <a:latin typeface="Arial"/>
              </a:rPr>
              <a:t>Selected stack for the prototype</a:t>
            </a:r>
          </a:p>
        </p:txBody>
      </p:sp>
      <p:sp>
        <p:nvSpPr>
          <p:cNvPr id="5" name="Rounded Rectangle 4"/>
          <p:cNvSpPr/>
          <p:nvPr/>
        </p:nvSpPr>
        <p:spPr>
          <a:xfrm>
            <a:off x="777240" y="1874519"/>
            <a:ext cx="3794760" cy="841248"/>
          </a:xfrm>
          <a:prstGeom prst="roundRect">
            <a:avLst/>
          </a:prstGeom>
          <a:solidFill>
            <a:srgbClr val="FFFFFF"/>
          </a:solidFill>
          <a:ln w="16510">
            <a:solidFill>
              <a:srgbClr val="704EA6"/>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400" b="1">
                <a:solidFill>
                  <a:srgbClr val="704EA6"/>
                </a:solidFill>
                <a:latin typeface="Arial"/>
              </a:rPr>
              <a:t>Python + FastAPI</a:t>
            </a:r>
          </a:p>
          <a:p>
            <a:pPr>
              <a:spcAft>
                <a:spcPts val="0"/>
              </a:spcAft>
            </a:pPr>
            <a:r>
              <a:rPr sz="1100">
                <a:solidFill>
                  <a:srgbClr val="14142B"/>
                </a:solidFill>
                <a:latin typeface="Arial"/>
              </a:rPr>
              <a:t>API, orchestration and streaming endpoints</a:t>
            </a:r>
          </a:p>
        </p:txBody>
      </p:sp>
      <p:sp>
        <p:nvSpPr>
          <p:cNvPr id="6" name="Rounded Rectangle 5"/>
          <p:cNvSpPr/>
          <p:nvPr/>
        </p:nvSpPr>
        <p:spPr>
          <a:xfrm>
            <a:off x="4892040" y="1874519"/>
            <a:ext cx="3794760" cy="841248"/>
          </a:xfrm>
          <a:prstGeom prst="roundRect">
            <a:avLst/>
          </a:prstGeom>
          <a:solidFill>
            <a:srgbClr val="FFFFFF"/>
          </a:solidFill>
          <a:ln w="16510">
            <a:solidFill>
              <a:srgbClr val="0FA39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400" b="1">
                <a:solidFill>
                  <a:srgbClr val="0FA39E"/>
                </a:solidFill>
                <a:latin typeface="Arial"/>
              </a:rPr>
              <a:t>Sentence Transformers</a:t>
            </a:r>
          </a:p>
          <a:p>
            <a:pPr>
              <a:spcAft>
                <a:spcPts val="0"/>
              </a:spcAft>
            </a:pPr>
            <a:r>
              <a:rPr sz="1100">
                <a:solidFill>
                  <a:srgbClr val="14142B"/>
                </a:solidFill>
                <a:latin typeface="Arial"/>
              </a:rPr>
              <a:t>Semantic embeddings for dense retrieval</a:t>
            </a:r>
          </a:p>
        </p:txBody>
      </p:sp>
      <p:sp>
        <p:nvSpPr>
          <p:cNvPr id="7" name="Rounded Rectangle 6"/>
          <p:cNvSpPr/>
          <p:nvPr/>
        </p:nvSpPr>
        <p:spPr>
          <a:xfrm>
            <a:off x="777240" y="2971800"/>
            <a:ext cx="3794760" cy="841248"/>
          </a:xfrm>
          <a:prstGeom prst="roundRect">
            <a:avLst/>
          </a:prstGeom>
          <a:solidFill>
            <a:srgbClr val="FFFFFF"/>
          </a:solidFill>
          <a:ln w="16510">
            <a:solidFill>
              <a:srgbClr val="704EA6"/>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400" b="1">
                <a:solidFill>
                  <a:srgbClr val="704EA6"/>
                </a:solidFill>
                <a:latin typeface="Arial"/>
              </a:rPr>
              <a:t>FAISS</a:t>
            </a:r>
          </a:p>
          <a:p>
            <a:pPr>
              <a:spcAft>
                <a:spcPts val="0"/>
              </a:spcAft>
            </a:pPr>
            <a:r>
              <a:rPr sz="1100">
                <a:solidFill>
                  <a:srgbClr val="14142B"/>
                </a:solidFill>
                <a:latin typeface="Arial"/>
              </a:rPr>
              <a:t>Fast local vector retrieval</a:t>
            </a:r>
          </a:p>
        </p:txBody>
      </p:sp>
      <p:sp>
        <p:nvSpPr>
          <p:cNvPr id="8" name="Rounded Rectangle 7"/>
          <p:cNvSpPr/>
          <p:nvPr/>
        </p:nvSpPr>
        <p:spPr>
          <a:xfrm>
            <a:off x="4892040" y="2971800"/>
            <a:ext cx="3794760" cy="841248"/>
          </a:xfrm>
          <a:prstGeom prst="roundRect">
            <a:avLst/>
          </a:prstGeom>
          <a:solidFill>
            <a:srgbClr val="FFFFFF"/>
          </a:solidFill>
          <a:ln w="16510">
            <a:solidFill>
              <a:srgbClr val="0FA39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400" b="1">
                <a:solidFill>
                  <a:srgbClr val="0FA39E"/>
                </a:solidFill>
                <a:latin typeface="Arial"/>
              </a:rPr>
              <a:t>BM25 / sparse search</a:t>
            </a:r>
          </a:p>
          <a:p>
            <a:pPr>
              <a:spcAft>
                <a:spcPts val="0"/>
              </a:spcAft>
            </a:pPr>
            <a:r>
              <a:rPr sz="1100">
                <a:solidFill>
                  <a:srgbClr val="14142B"/>
                </a:solidFill>
                <a:latin typeface="Arial"/>
              </a:rPr>
              <a:t>Lexical retrieval for exact terms and entities</a:t>
            </a:r>
          </a:p>
        </p:txBody>
      </p:sp>
      <p:sp>
        <p:nvSpPr>
          <p:cNvPr id="9" name="Rounded Rectangle 8"/>
          <p:cNvSpPr/>
          <p:nvPr/>
        </p:nvSpPr>
        <p:spPr>
          <a:xfrm>
            <a:off x="777240" y="4069080"/>
            <a:ext cx="3794760" cy="841248"/>
          </a:xfrm>
          <a:prstGeom prst="roundRect">
            <a:avLst/>
          </a:prstGeom>
          <a:solidFill>
            <a:srgbClr val="FFFFFF"/>
          </a:solidFill>
          <a:ln w="16510">
            <a:solidFill>
              <a:srgbClr val="704EA6"/>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400" b="1">
                <a:solidFill>
                  <a:srgbClr val="704EA6"/>
                </a:solidFill>
                <a:latin typeface="Arial"/>
              </a:rPr>
              <a:t>LLM API</a:t>
            </a:r>
          </a:p>
          <a:p>
            <a:pPr>
              <a:spcAft>
                <a:spcPts val="0"/>
              </a:spcAft>
            </a:pPr>
            <a:r>
              <a:rPr sz="1100">
                <a:solidFill>
                  <a:srgbClr val="14142B"/>
                </a:solidFill>
                <a:latin typeface="Arial"/>
              </a:rPr>
              <a:t>Intent decomposition and grounded synthesis</a:t>
            </a:r>
          </a:p>
        </p:txBody>
      </p:sp>
      <p:sp>
        <p:nvSpPr>
          <p:cNvPr id="10" name="Rounded Rectangle 9"/>
          <p:cNvSpPr/>
          <p:nvPr/>
        </p:nvSpPr>
        <p:spPr>
          <a:xfrm>
            <a:off x="4892040" y="4069080"/>
            <a:ext cx="3794760" cy="841248"/>
          </a:xfrm>
          <a:prstGeom prst="roundRect">
            <a:avLst/>
          </a:prstGeom>
          <a:solidFill>
            <a:srgbClr val="FFFFFF"/>
          </a:solidFill>
          <a:ln w="16510">
            <a:solidFill>
              <a:srgbClr val="0FA39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400" b="1">
                <a:solidFill>
                  <a:srgbClr val="0FA39E"/>
                </a:solidFill>
                <a:latin typeface="Arial"/>
              </a:rPr>
              <a:t>Streamlit</a:t>
            </a:r>
          </a:p>
          <a:p>
            <a:pPr>
              <a:spcAft>
                <a:spcPts val="0"/>
              </a:spcAft>
            </a:pPr>
            <a:r>
              <a:rPr sz="1100">
                <a:solidFill>
                  <a:srgbClr val="14142B"/>
                </a:solidFill>
                <a:latin typeface="Arial"/>
              </a:rPr>
              <a:t>Demo interface and live telemetry view</a:t>
            </a:r>
          </a:p>
        </p:txBody>
      </p:sp>
      <p:sp>
        <p:nvSpPr>
          <p:cNvPr id="11" name="Rounded Rectangle 10"/>
          <p:cNvSpPr/>
          <p:nvPr/>
        </p:nvSpPr>
        <p:spPr>
          <a:xfrm>
            <a:off x="777240" y="5166360"/>
            <a:ext cx="3794760" cy="841248"/>
          </a:xfrm>
          <a:prstGeom prst="roundRect">
            <a:avLst/>
          </a:prstGeom>
          <a:solidFill>
            <a:srgbClr val="FFFFFF"/>
          </a:solidFill>
          <a:ln w="16510">
            <a:solidFill>
              <a:srgbClr val="704EA6"/>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400" b="1">
                <a:solidFill>
                  <a:srgbClr val="704EA6"/>
                </a:solidFill>
                <a:latin typeface="Arial"/>
              </a:rPr>
              <a:t>Pydantic + JSON</a:t>
            </a:r>
          </a:p>
          <a:p>
            <a:pPr>
              <a:spcAft>
                <a:spcPts val="0"/>
              </a:spcAft>
            </a:pPr>
            <a:r>
              <a:rPr sz="1100">
                <a:solidFill>
                  <a:srgbClr val="14142B"/>
                </a:solidFill>
                <a:latin typeface="Arial"/>
              </a:rPr>
              <a:t>Structured events, validation and telemetry</a:t>
            </a:r>
          </a:p>
        </p:txBody>
      </p:sp>
      <p:sp>
        <p:nvSpPr>
          <p:cNvPr id="12" name="Rounded Rectangle 11"/>
          <p:cNvSpPr/>
          <p:nvPr/>
        </p:nvSpPr>
        <p:spPr>
          <a:xfrm>
            <a:off x="4892040" y="5166360"/>
            <a:ext cx="3794760" cy="841248"/>
          </a:xfrm>
          <a:prstGeom prst="roundRect">
            <a:avLst/>
          </a:prstGeom>
          <a:solidFill>
            <a:srgbClr val="FFFFFF"/>
          </a:solidFill>
          <a:ln w="16510">
            <a:solidFill>
              <a:srgbClr val="0FA39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400" b="1">
                <a:solidFill>
                  <a:srgbClr val="0FA39E"/>
                </a:solidFill>
                <a:latin typeface="Arial"/>
              </a:rPr>
              <a:t>Docker</a:t>
            </a:r>
          </a:p>
          <a:p>
            <a:pPr>
              <a:spcAft>
                <a:spcPts val="0"/>
              </a:spcAft>
            </a:pPr>
            <a:r>
              <a:rPr sz="1100">
                <a:solidFill>
                  <a:srgbClr val="14142B"/>
                </a:solidFill>
                <a:latin typeface="Arial"/>
              </a:rPr>
              <a:t>Reproducible one-command execution</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
        <p:nvSpPr>
          <p:cNvPr id="4" name="TextBox 3"/>
          <p:cNvSpPr txBox="1"/>
          <p:nvPr/>
        </p:nvSpPr>
        <p:spPr>
          <a:xfrm>
            <a:off x="777240" y="1353312"/>
            <a:ext cx="5486400" cy="365760"/>
          </a:xfrm>
          <a:prstGeom prst="rect">
            <a:avLst/>
          </a:prstGeom>
          <a:noFill/>
        </p:spPr>
        <p:txBody>
          <a:bodyPr wrap="square" lIns="45720" rIns="45720" anchor="t">
            <a:spAutoFit/>
          </a:bodyPr>
          <a:lstStyle/>
          <a:p>
            <a:pPr algn="l">
              <a:lnSpc>
                <a:spcPct val="105000"/>
              </a:lnSpc>
            </a:pPr>
            <a:r>
              <a:rPr sz="2100" b="1">
                <a:solidFill>
                  <a:srgbClr val="6D28D9"/>
                </a:solidFill>
                <a:latin typeface="Arial"/>
              </a:rPr>
              <a:t>Use case: enterprise knowledge assistance</a:t>
            </a:r>
          </a:p>
        </p:txBody>
      </p:sp>
      <p:sp>
        <p:nvSpPr>
          <p:cNvPr id="5" name="Rounded Rectangle 4"/>
          <p:cNvSpPr/>
          <p:nvPr/>
        </p:nvSpPr>
        <p:spPr>
          <a:xfrm>
            <a:off x="777240" y="1874519"/>
            <a:ext cx="2743200" cy="1508760"/>
          </a:xfrm>
          <a:prstGeom prst="roundRect">
            <a:avLst/>
          </a:prstGeom>
          <a:solidFill>
            <a:srgbClr val="EEE7FA"/>
          </a:solidFill>
          <a:ln w="16510">
            <a:solidFill>
              <a:srgbClr val="704EA6"/>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600" b="1">
                <a:solidFill>
                  <a:srgbClr val="704EA6"/>
                </a:solidFill>
                <a:latin typeface="Arial"/>
              </a:rPr>
              <a:t>LIVE REQUESTS</a:t>
            </a:r>
          </a:p>
          <a:p>
            <a:pPr>
              <a:spcAft>
                <a:spcPts val="0"/>
              </a:spcAft>
            </a:pPr>
            <a:r>
              <a:rPr sz="1300">
                <a:solidFill>
                  <a:srgbClr val="14142B"/>
                </a:solidFill>
                <a:latin typeface="Arial"/>
              </a:rPr>
              <a:t>Users can ask evolving questions while speaking or typing. The system begins useful work before the final utterance is complete.</a:t>
            </a:r>
          </a:p>
        </p:txBody>
      </p:sp>
      <p:sp>
        <p:nvSpPr>
          <p:cNvPr id="6" name="Rounded Rectangle 5"/>
          <p:cNvSpPr/>
          <p:nvPr/>
        </p:nvSpPr>
        <p:spPr>
          <a:xfrm>
            <a:off x="3703320" y="1874519"/>
            <a:ext cx="2743200" cy="1508760"/>
          </a:xfrm>
          <a:prstGeom prst="roundRect">
            <a:avLst/>
          </a:prstGeom>
          <a:solidFill>
            <a:srgbClr val="E7F7F5"/>
          </a:solidFill>
          <a:ln w="16510">
            <a:solidFill>
              <a:srgbClr val="0FA39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600" b="1">
                <a:solidFill>
                  <a:srgbClr val="0FA39E"/>
                </a:solidFill>
                <a:latin typeface="Arial"/>
              </a:rPr>
              <a:t>MULTI-INTENT WORK</a:t>
            </a:r>
          </a:p>
          <a:p>
            <a:pPr>
              <a:spcAft>
                <a:spcPts val="0"/>
              </a:spcAft>
            </a:pPr>
            <a:r>
              <a:rPr sz="1300">
                <a:solidFill>
                  <a:srgbClr val="14142B"/>
                </a:solidFill>
                <a:latin typeface="Arial"/>
              </a:rPr>
              <a:t>A single request can be decomposed into independent search-ready sub-queries and retrieved in parallel.</a:t>
            </a:r>
          </a:p>
        </p:txBody>
      </p:sp>
      <p:sp>
        <p:nvSpPr>
          <p:cNvPr id="7" name="Rounded Rectangle 6"/>
          <p:cNvSpPr/>
          <p:nvPr/>
        </p:nvSpPr>
        <p:spPr>
          <a:xfrm>
            <a:off x="6629400" y="1874519"/>
            <a:ext cx="2743200" cy="1508760"/>
          </a:xfrm>
          <a:prstGeom prst="roundRect">
            <a:avLst/>
          </a:prstGeom>
          <a:solidFill>
            <a:srgbClr val="FFFFFF"/>
          </a:solidFill>
          <a:ln w="16510">
            <a:solidFill>
              <a:srgbClr val="255FD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600" b="1">
                <a:solidFill>
                  <a:srgbClr val="255FD7"/>
                </a:solidFill>
                <a:latin typeface="Arial"/>
              </a:rPr>
              <a:t>TRUSTED ANSWERS</a:t>
            </a:r>
          </a:p>
          <a:p>
            <a:pPr>
              <a:spcAft>
                <a:spcPts val="0"/>
              </a:spcAft>
            </a:pPr>
            <a:r>
              <a:rPr sz="1300">
                <a:solidFill>
                  <a:srgbClr val="14142B"/>
                </a:solidFill>
                <a:latin typeface="Arial"/>
              </a:rPr>
              <a:t>Answers remain grounded in the provided corpus, with source identifiers and explicit uncertainty when evidence is insufficient.</a:t>
            </a:r>
          </a:p>
        </p:txBody>
      </p:sp>
      <p:sp>
        <p:nvSpPr>
          <p:cNvPr id="8" name="TextBox 7"/>
          <p:cNvSpPr txBox="1"/>
          <p:nvPr/>
        </p:nvSpPr>
        <p:spPr>
          <a:xfrm>
            <a:off x="777240" y="3794760"/>
            <a:ext cx="2011680" cy="320040"/>
          </a:xfrm>
          <a:prstGeom prst="rect">
            <a:avLst/>
          </a:prstGeom>
          <a:noFill/>
        </p:spPr>
        <p:txBody>
          <a:bodyPr wrap="square" lIns="45720" rIns="45720" anchor="t">
            <a:spAutoFit/>
          </a:bodyPr>
          <a:lstStyle/>
          <a:p>
            <a:pPr algn="l">
              <a:lnSpc>
                <a:spcPct val="105000"/>
              </a:lnSpc>
            </a:pPr>
            <a:r>
              <a:rPr sz="1900" b="1">
                <a:solidFill>
                  <a:srgbClr val="14142B"/>
                </a:solidFill>
                <a:latin typeface="Arial"/>
              </a:rPr>
              <a:t>Expected impact</a:t>
            </a:r>
          </a:p>
        </p:txBody>
      </p:sp>
      <p:sp>
        <p:nvSpPr>
          <p:cNvPr id="9" name="TextBox 8"/>
          <p:cNvSpPr txBox="1"/>
          <p:nvPr/>
        </p:nvSpPr>
        <p:spPr>
          <a:xfrm>
            <a:off x="868680" y="4206240"/>
            <a:ext cx="8778240" cy="1691640"/>
          </a:xfrm>
          <a:prstGeom prst="rect">
            <a:avLst/>
          </a:prstGeom>
          <a:noFill/>
        </p:spPr>
        <p:txBody>
          <a:bodyPr wrap="square" lIns="45720" rIns="45720" tIns="27432" bIns="27432">
            <a:spAutoFit/>
          </a:bodyPr>
          <a:lstStyle/>
          <a:p>
            <a:pPr>
              <a:spcAft>
                <a:spcPts val="300"/>
              </a:spcAft>
            </a:pPr>
            <a:r>
              <a:rPr sz="1600" b="1">
                <a:solidFill>
                  <a:srgbClr val="704EA6"/>
                </a:solidFill>
                <a:latin typeface="Arial"/>
              </a:rPr>
              <a:t>• </a:t>
            </a:r>
            <a:r>
              <a:rPr sz="1600">
                <a:solidFill>
                  <a:srgbClr val="14142B"/>
                </a:solidFill>
                <a:latin typeface="Arial"/>
              </a:rPr>
              <a:t>Lower perceived response time through early retrieval and streamed synthesis.</a:t>
            </a:r>
          </a:p>
          <a:p>
            <a:pPr>
              <a:spcAft>
                <a:spcPts val="300"/>
              </a:spcAft>
            </a:pPr>
            <a:r>
              <a:rPr sz="1600" b="1">
                <a:solidFill>
                  <a:srgbClr val="704EA6"/>
                </a:solidFill>
                <a:latin typeface="Arial"/>
              </a:rPr>
              <a:t>• </a:t>
            </a:r>
            <a:r>
              <a:rPr sz="1600">
                <a:solidFill>
                  <a:srgbClr val="14142B"/>
                </a:solidFill>
                <a:latin typeface="Arial"/>
              </a:rPr>
              <a:t>Less wasted computation by suppressing retrieval when no search is required.</a:t>
            </a:r>
          </a:p>
          <a:p>
            <a:pPr>
              <a:spcAft>
                <a:spcPts val="300"/>
              </a:spcAft>
            </a:pPr>
            <a:r>
              <a:rPr sz="1600" b="1">
                <a:solidFill>
                  <a:srgbClr val="704EA6"/>
                </a:solidFill>
                <a:latin typeface="Arial"/>
              </a:rPr>
              <a:t>• </a:t>
            </a:r>
            <a:r>
              <a:rPr sz="1600">
                <a:solidFill>
                  <a:srgbClr val="14142B"/>
                </a:solidFill>
                <a:latin typeface="Arial"/>
              </a:rPr>
              <a:t>Better handling of compound requests through parallel sub-query retrieval.</a:t>
            </a:r>
          </a:p>
          <a:p>
            <a:pPr>
              <a:spcAft>
                <a:spcPts val="300"/>
              </a:spcAft>
            </a:pPr>
            <a:r>
              <a:rPr sz="1600" b="1">
                <a:solidFill>
                  <a:srgbClr val="704EA6"/>
                </a:solidFill>
                <a:latin typeface="Arial"/>
              </a:rPr>
              <a:t>• </a:t>
            </a:r>
            <a:r>
              <a:rPr sz="1600">
                <a:solidFill>
                  <a:srgbClr val="14142B"/>
                </a:solidFill>
                <a:latin typeface="Arial"/>
              </a:rPr>
              <a:t>More stable conversations when new constraints arrive late.</a:t>
            </a:r>
          </a:p>
          <a:p>
            <a:pPr>
              <a:spcAft>
                <a:spcPts val="300"/>
              </a:spcAft>
            </a:pPr>
            <a:r>
              <a:rPr sz="1600" b="1">
                <a:solidFill>
                  <a:srgbClr val="704EA6"/>
                </a:solidFill>
                <a:latin typeface="Arial"/>
              </a:rPr>
              <a:t>• </a:t>
            </a:r>
            <a:r>
              <a:rPr sz="1600">
                <a:solidFill>
                  <a:srgbClr val="14142B"/>
                </a:solidFill>
                <a:latin typeface="Arial"/>
              </a:rPr>
              <a:t>Stronger auditability through citations, answer versions and telemetry.</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
        <p:nvSpPr>
          <p:cNvPr id="4" name="TextBox 3"/>
          <p:cNvSpPr txBox="1"/>
          <p:nvPr/>
        </p:nvSpPr>
        <p:spPr>
          <a:xfrm>
            <a:off x="777240" y="1353312"/>
            <a:ext cx="5029200" cy="365760"/>
          </a:xfrm>
          <a:prstGeom prst="rect">
            <a:avLst/>
          </a:prstGeom>
          <a:noFill/>
        </p:spPr>
        <p:txBody>
          <a:bodyPr wrap="square" lIns="45720" rIns="45720" anchor="t">
            <a:spAutoFit/>
          </a:bodyPr>
          <a:lstStyle/>
          <a:p>
            <a:pPr algn="l">
              <a:lnSpc>
                <a:spcPct val="105000"/>
              </a:lnSpc>
            </a:pPr>
            <a:r>
              <a:rPr sz="2100" b="1">
                <a:solidFill>
                  <a:srgbClr val="6D28D9"/>
                </a:solidFill>
                <a:latin typeface="Arial"/>
              </a:rPr>
              <a:t>Innovation + evaluation targets</a:t>
            </a:r>
          </a:p>
        </p:txBody>
      </p:sp>
      <p:sp>
        <p:nvSpPr>
          <p:cNvPr id="5" name="Rounded Rectangle 4"/>
          <p:cNvSpPr/>
          <p:nvPr/>
        </p:nvSpPr>
        <p:spPr>
          <a:xfrm>
            <a:off x="777240" y="1828800"/>
            <a:ext cx="4343400" cy="1371600"/>
          </a:xfrm>
          <a:prstGeom prst="roundRect">
            <a:avLst/>
          </a:prstGeom>
          <a:solidFill>
            <a:srgbClr val="EEE7FA"/>
          </a:solidFill>
          <a:ln w="16510">
            <a:solidFill>
              <a:srgbClr val="704EA6"/>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600" b="1">
                <a:solidFill>
                  <a:srgbClr val="704EA6"/>
                </a:solidFill>
                <a:latin typeface="Arial"/>
              </a:rPr>
              <a:t>INNOVATION HIGHLIGHTS</a:t>
            </a:r>
          </a:p>
          <a:p>
            <a:pPr>
              <a:spcAft>
                <a:spcPts val="0"/>
              </a:spcAft>
            </a:pPr>
            <a:r>
              <a:rPr sz="1300">
                <a:solidFill>
                  <a:srgbClr val="14142B"/>
                </a:solidFill>
                <a:latin typeface="Arial"/>
              </a:rPr>
              <a:t>Retrieval Controller • Multi-intent routing • Hybrid retrieval • Evidence fusion • Delta refinement • Query suppression • Grounding checks • Full telemetry</a:t>
            </a:r>
          </a:p>
        </p:txBody>
      </p:sp>
      <p:sp>
        <p:nvSpPr>
          <p:cNvPr id="6" name="Rounded Rectangle 5"/>
          <p:cNvSpPr/>
          <p:nvPr/>
        </p:nvSpPr>
        <p:spPr>
          <a:xfrm>
            <a:off x="5349240" y="1828800"/>
            <a:ext cx="4343400" cy="1371600"/>
          </a:xfrm>
          <a:prstGeom prst="roundRect">
            <a:avLst/>
          </a:prstGeom>
          <a:solidFill>
            <a:srgbClr val="E7F7F5"/>
          </a:solidFill>
          <a:ln w="16510">
            <a:solidFill>
              <a:srgbClr val="0FA39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600" b="1">
                <a:solidFill>
                  <a:srgbClr val="0FA39E"/>
                </a:solidFill>
                <a:latin typeface="Arial"/>
              </a:rPr>
              <a:t>TARGET GATES FROM THE GUIDE</a:t>
            </a:r>
          </a:p>
          <a:p>
            <a:pPr>
              <a:spcAft>
                <a:spcPts val="0"/>
              </a:spcAft>
            </a:pPr>
            <a:r>
              <a:rPr sz="1300">
                <a:solidFill>
                  <a:srgbClr val="14142B"/>
                </a:solidFill>
                <a:latin typeface="Arial"/>
              </a:rPr>
              <a:t>G2 Early retrieval ≥80% • G3 Multi-intent ≥70% • G4 Citation support ≥85% • G5 Session refinement verified • G6 Telemetry 100%</a:t>
            </a:r>
          </a:p>
        </p:txBody>
      </p:sp>
      <p:sp>
        <p:nvSpPr>
          <p:cNvPr id="7" name="TextBox 6"/>
          <p:cNvSpPr txBox="1"/>
          <p:nvPr/>
        </p:nvSpPr>
        <p:spPr>
          <a:xfrm>
            <a:off x="777240" y="3520440"/>
            <a:ext cx="1828800" cy="320040"/>
          </a:xfrm>
          <a:prstGeom prst="rect">
            <a:avLst/>
          </a:prstGeom>
          <a:noFill/>
        </p:spPr>
        <p:txBody>
          <a:bodyPr wrap="square" lIns="45720" rIns="45720" anchor="t">
            <a:spAutoFit/>
          </a:bodyPr>
          <a:lstStyle/>
          <a:p>
            <a:pPr algn="l">
              <a:lnSpc>
                <a:spcPct val="105000"/>
              </a:lnSpc>
            </a:pPr>
            <a:r>
              <a:rPr sz="1800" b="1">
                <a:solidFill>
                  <a:srgbClr val="14142B"/>
                </a:solidFill>
                <a:latin typeface="Arial"/>
              </a:rPr>
              <a:t>Results status</a:t>
            </a:r>
          </a:p>
        </p:txBody>
      </p:sp>
      <p:sp>
        <p:nvSpPr>
          <p:cNvPr id="8" name="TextBox 7"/>
          <p:cNvSpPr txBox="1"/>
          <p:nvPr/>
        </p:nvSpPr>
        <p:spPr>
          <a:xfrm>
            <a:off x="868680" y="3913632"/>
            <a:ext cx="8641080" cy="566928"/>
          </a:xfrm>
          <a:prstGeom prst="rect">
            <a:avLst/>
          </a:prstGeom>
          <a:noFill/>
        </p:spPr>
        <p:txBody>
          <a:bodyPr wrap="square" lIns="45720" rIns="45720" anchor="t">
            <a:spAutoFit/>
          </a:bodyPr>
          <a:lstStyle/>
          <a:p>
            <a:pPr algn="l">
              <a:lnSpc>
                <a:spcPct val="105000"/>
              </a:lnSpc>
            </a:pPr>
            <a:r>
              <a:rPr sz="1600" b="0">
                <a:solidFill>
                  <a:srgbClr val="63637E"/>
                </a:solidFill>
                <a:latin typeface="Arial"/>
              </a:rPr>
              <a:t>Final benchmark numbers will be reported after running the official evaluation scenarios. No performance figures are fabricated in this presentation.</a:t>
            </a:r>
          </a:p>
        </p:txBody>
      </p:sp>
      <p:sp>
        <p:nvSpPr>
          <p:cNvPr id="9" name="TextBox 8"/>
          <p:cNvSpPr txBox="1"/>
          <p:nvPr/>
        </p:nvSpPr>
        <p:spPr>
          <a:xfrm>
            <a:off x="777240" y="4663440"/>
            <a:ext cx="2194560" cy="320040"/>
          </a:xfrm>
          <a:prstGeom prst="rect">
            <a:avLst/>
          </a:prstGeom>
          <a:noFill/>
        </p:spPr>
        <p:txBody>
          <a:bodyPr wrap="square" lIns="45720" rIns="45720" anchor="t">
            <a:spAutoFit/>
          </a:bodyPr>
          <a:lstStyle/>
          <a:p>
            <a:pPr algn="l">
              <a:lnSpc>
                <a:spcPct val="105000"/>
              </a:lnSpc>
            </a:pPr>
            <a:r>
              <a:rPr sz="1800" b="1">
                <a:solidFill>
                  <a:srgbClr val="14142B"/>
                </a:solidFill>
                <a:latin typeface="Arial"/>
              </a:rPr>
              <a:t>Known limitations</a:t>
            </a:r>
          </a:p>
        </p:txBody>
      </p:sp>
      <p:sp>
        <p:nvSpPr>
          <p:cNvPr id="10" name="TextBox 9"/>
          <p:cNvSpPr txBox="1"/>
          <p:nvPr/>
        </p:nvSpPr>
        <p:spPr>
          <a:xfrm>
            <a:off x="868680" y="5047488"/>
            <a:ext cx="8686800" cy="1051560"/>
          </a:xfrm>
          <a:prstGeom prst="rect">
            <a:avLst/>
          </a:prstGeom>
          <a:noFill/>
        </p:spPr>
        <p:txBody>
          <a:bodyPr wrap="square" lIns="45720" rIns="45720" tIns="27432" bIns="27432">
            <a:spAutoFit/>
          </a:bodyPr>
          <a:lstStyle/>
          <a:p>
            <a:pPr>
              <a:spcAft>
                <a:spcPts val="200"/>
              </a:spcAft>
            </a:pPr>
            <a:r>
              <a:rPr sz="1400" b="1">
                <a:solidFill>
                  <a:srgbClr val="704EA6"/>
                </a:solidFill>
                <a:latin typeface="Arial"/>
              </a:rPr>
              <a:t>• </a:t>
            </a:r>
            <a:r>
              <a:rPr sz="1400">
                <a:solidFill>
                  <a:srgbClr val="14142B"/>
                </a:solidFill>
                <a:latin typeface="Arial"/>
              </a:rPr>
              <a:t>Prototype quality depends on the supplied corpus and evaluation environment.</a:t>
            </a:r>
          </a:p>
          <a:p>
            <a:pPr>
              <a:spcAft>
                <a:spcPts val="200"/>
              </a:spcAft>
            </a:pPr>
            <a:r>
              <a:rPr sz="1400" b="1">
                <a:solidFill>
                  <a:srgbClr val="704EA6"/>
                </a:solidFill>
                <a:latin typeface="Arial"/>
              </a:rPr>
              <a:t>• </a:t>
            </a:r>
            <a:r>
              <a:rPr sz="1400">
                <a:solidFill>
                  <a:srgbClr val="14142B"/>
                </a:solidFill>
                <a:latin typeface="Arial"/>
              </a:rPr>
              <a:t>Early retrieval must balance speed against noise from incomplete intent.</a:t>
            </a:r>
          </a:p>
          <a:p>
            <a:pPr>
              <a:spcAft>
                <a:spcPts val="200"/>
              </a:spcAft>
            </a:pPr>
            <a:r>
              <a:rPr sz="1400" b="1">
                <a:solidFill>
                  <a:srgbClr val="704EA6"/>
                </a:solidFill>
                <a:latin typeface="Arial"/>
              </a:rPr>
              <a:t>• </a:t>
            </a:r>
            <a:r>
              <a:rPr sz="1400">
                <a:solidFill>
                  <a:srgbClr val="14142B"/>
                </a:solidFill>
                <a:latin typeface="Arial"/>
              </a:rPr>
              <a:t>Parallel sub-query retrieval increases orchestration complexity and token use.</a:t>
            </a:r>
          </a:p>
          <a:p>
            <a:pPr>
              <a:spcAft>
                <a:spcPts val="200"/>
              </a:spcAft>
            </a:pPr>
            <a:r>
              <a:rPr sz="1400" b="1">
                <a:solidFill>
                  <a:srgbClr val="704EA6"/>
                </a:solidFill>
                <a:latin typeface="Arial"/>
              </a:rPr>
              <a:t>• </a:t>
            </a:r>
            <a:r>
              <a:rPr sz="1400">
                <a:solidFill>
                  <a:srgbClr val="14142B"/>
                </a:solidFill>
                <a:latin typeface="Arial"/>
              </a:rPr>
              <a:t>The system must remain strictly corpus-grounded; external web knowledge is intentionally excluded.</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
        <p:nvSpPr>
          <p:cNvPr id="4" name="TextBox 3"/>
          <p:cNvSpPr txBox="1"/>
          <p:nvPr/>
        </p:nvSpPr>
        <p:spPr>
          <a:xfrm>
            <a:off x="777240" y="1353312"/>
            <a:ext cx="1828800" cy="365760"/>
          </a:xfrm>
          <a:prstGeom prst="rect">
            <a:avLst/>
          </a:prstGeom>
          <a:noFill/>
        </p:spPr>
        <p:txBody>
          <a:bodyPr wrap="square" lIns="45720" rIns="45720" anchor="t">
            <a:spAutoFit/>
          </a:bodyPr>
          <a:lstStyle/>
          <a:p>
            <a:pPr algn="l">
              <a:lnSpc>
                <a:spcPct val="105000"/>
              </a:lnSpc>
            </a:pPr>
            <a:r>
              <a:rPr sz="2100" b="1">
                <a:solidFill>
                  <a:srgbClr val="6D28D9"/>
                </a:solidFill>
                <a:latin typeface="Arial"/>
              </a:rPr>
              <a:t>Roadmap</a:t>
            </a:r>
          </a:p>
        </p:txBody>
      </p:sp>
      <p:sp>
        <p:nvSpPr>
          <p:cNvPr id="5" name="Oval 4"/>
          <p:cNvSpPr/>
          <p:nvPr/>
        </p:nvSpPr>
        <p:spPr>
          <a:xfrm>
            <a:off x="822960" y="1874519"/>
            <a:ext cx="475488" cy="475488"/>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975103"/>
            <a:ext cx="256032" cy="228600"/>
          </a:xfrm>
          <a:prstGeom prst="rect">
            <a:avLst/>
          </a:prstGeom>
          <a:noFill/>
        </p:spPr>
        <p:txBody>
          <a:bodyPr wrap="square" lIns="45720" rIns="45720" anchor="t">
            <a:spAutoFit/>
          </a:bodyPr>
          <a:lstStyle/>
          <a:p>
            <a:pPr algn="ctr">
              <a:lnSpc>
                <a:spcPct val="105000"/>
              </a:lnSpc>
            </a:pPr>
            <a:r>
              <a:rPr sz="1200" b="1">
                <a:solidFill>
                  <a:srgbClr val="FFFFFF"/>
                </a:solidFill>
                <a:latin typeface="Arial"/>
              </a:rPr>
              <a:t>1</a:t>
            </a:r>
          </a:p>
        </p:txBody>
      </p:sp>
      <p:sp>
        <p:nvSpPr>
          <p:cNvPr id="7" name="TextBox 6"/>
          <p:cNvSpPr txBox="1"/>
          <p:nvPr/>
        </p:nvSpPr>
        <p:spPr>
          <a:xfrm>
            <a:off x="1508760" y="1856231"/>
            <a:ext cx="1508760" cy="292608"/>
          </a:xfrm>
          <a:prstGeom prst="rect">
            <a:avLst/>
          </a:prstGeom>
          <a:noFill/>
        </p:spPr>
        <p:txBody>
          <a:bodyPr wrap="square" lIns="45720" rIns="45720" anchor="t">
            <a:spAutoFit/>
          </a:bodyPr>
          <a:lstStyle/>
          <a:p>
            <a:pPr algn="l">
              <a:lnSpc>
                <a:spcPct val="105000"/>
              </a:lnSpc>
            </a:pPr>
            <a:r>
              <a:rPr sz="1600" b="1">
                <a:solidFill>
                  <a:srgbClr val="14142B"/>
                </a:solidFill>
                <a:latin typeface="Arial"/>
              </a:rPr>
              <a:t>Foundation</a:t>
            </a:r>
          </a:p>
        </p:txBody>
      </p:sp>
      <p:sp>
        <p:nvSpPr>
          <p:cNvPr id="8" name="TextBox 7"/>
          <p:cNvSpPr txBox="1"/>
          <p:nvPr/>
        </p:nvSpPr>
        <p:spPr>
          <a:xfrm>
            <a:off x="2880360" y="1856231"/>
            <a:ext cx="6309360" cy="457200"/>
          </a:xfrm>
          <a:prstGeom prst="rect">
            <a:avLst/>
          </a:prstGeom>
          <a:noFill/>
        </p:spPr>
        <p:txBody>
          <a:bodyPr wrap="square" lIns="45720" rIns="45720" anchor="t">
            <a:spAutoFit/>
          </a:bodyPr>
          <a:lstStyle/>
          <a:p>
            <a:pPr algn="l">
              <a:lnSpc>
                <a:spcPct val="105000"/>
              </a:lnSpc>
            </a:pPr>
            <a:r>
              <a:rPr sz="1500" b="0">
                <a:solidFill>
                  <a:srgbClr val="63637E"/>
                </a:solidFill>
                <a:latin typeface="Arial"/>
              </a:rPr>
              <a:t>Corpus audit • indexing • chunking • baseline retrieval</a:t>
            </a:r>
          </a:p>
        </p:txBody>
      </p:sp>
      <p:cxnSp>
        <p:nvCxnSpPr>
          <p:cNvPr id="9" name="Connector 8"/>
          <p:cNvCxnSpPr/>
          <p:nvPr/>
        </p:nvCxnSpPr>
        <p:spPr>
          <a:xfrm>
            <a:off x="1060704" y="2350008"/>
            <a:ext cx="0" cy="347471"/>
          </a:xfrm>
          <a:prstGeom prst="line">
            <a:avLst/>
          </a:prstGeom>
          <a:ln w="15240">
            <a:solidFill>
              <a:srgbClr val="704EA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22960" y="2697479"/>
            <a:ext cx="475488" cy="475488"/>
          </a:xfrm>
          <a:prstGeom prst="ellipse">
            <a:avLst/>
          </a:prstGeom>
          <a:solidFill>
            <a:srgbClr val="0FA3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798063"/>
            <a:ext cx="256032" cy="228600"/>
          </a:xfrm>
          <a:prstGeom prst="rect">
            <a:avLst/>
          </a:prstGeom>
          <a:noFill/>
        </p:spPr>
        <p:txBody>
          <a:bodyPr wrap="square" lIns="45720" rIns="45720" anchor="t">
            <a:spAutoFit/>
          </a:bodyPr>
          <a:lstStyle/>
          <a:p>
            <a:pPr algn="ctr">
              <a:lnSpc>
                <a:spcPct val="105000"/>
              </a:lnSpc>
            </a:pPr>
            <a:r>
              <a:rPr sz="1200" b="1">
                <a:solidFill>
                  <a:srgbClr val="FFFFFF"/>
                </a:solidFill>
                <a:latin typeface="Arial"/>
              </a:rPr>
              <a:t>2</a:t>
            </a:r>
          </a:p>
        </p:txBody>
      </p:sp>
      <p:sp>
        <p:nvSpPr>
          <p:cNvPr id="12" name="TextBox 11"/>
          <p:cNvSpPr txBox="1"/>
          <p:nvPr/>
        </p:nvSpPr>
        <p:spPr>
          <a:xfrm>
            <a:off x="1508760" y="2679191"/>
            <a:ext cx="1508760" cy="292608"/>
          </a:xfrm>
          <a:prstGeom prst="rect">
            <a:avLst/>
          </a:prstGeom>
          <a:noFill/>
        </p:spPr>
        <p:txBody>
          <a:bodyPr wrap="square" lIns="45720" rIns="45720" anchor="t">
            <a:spAutoFit/>
          </a:bodyPr>
          <a:lstStyle/>
          <a:p>
            <a:pPr algn="l">
              <a:lnSpc>
                <a:spcPct val="105000"/>
              </a:lnSpc>
            </a:pPr>
            <a:r>
              <a:rPr sz="1600" b="1">
                <a:solidFill>
                  <a:srgbClr val="14142B"/>
                </a:solidFill>
                <a:latin typeface="Arial"/>
              </a:rPr>
              <a:t>Controller</a:t>
            </a:r>
          </a:p>
        </p:txBody>
      </p:sp>
      <p:sp>
        <p:nvSpPr>
          <p:cNvPr id="13" name="TextBox 12"/>
          <p:cNvSpPr txBox="1"/>
          <p:nvPr/>
        </p:nvSpPr>
        <p:spPr>
          <a:xfrm>
            <a:off x="2880360" y="2679191"/>
            <a:ext cx="6309360" cy="457200"/>
          </a:xfrm>
          <a:prstGeom prst="rect">
            <a:avLst/>
          </a:prstGeom>
          <a:noFill/>
        </p:spPr>
        <p:txBody>
          <a:bodyPr wrap="square" lIns="45720" rIns="45720" anchor="t">
            <a:spAutoFit/>
          </a:bodyPr>
          <a:lstStyle/>
          <a:p>
            <a:pPr algn="l">
              <a:lnSpc>
                <a:spcPct val="105000"/>
              </a:lnSpc>
            </a:pPr>
            <a:r>
              <a:rPr sz="1500" b="0">
                <a:solidFill>
                  <a:srgbClr val="63637E"/>
                </a:solidFill>
                <a:latin typeface="Arial"/>
              </a:rPr>
              <a:t>Incremental stream simulator • WAIT / RETRIEVE / SUPPRESS</a:t>
            </a:r>
          </a:p>
        </p:txBody>
      </p:sp>
      <p:cxnSp>
        <p:nvCxnSpPr>
          <p:cNvPr id="14" name="Connector 13"/>
          <p:cNvCxnSpPr/>
          <p:nvPr/>
        </p:nvCxnSpPr>
        <p:spPr>
          <a:xfrm>
            <a:off x="1060704" y="3172968"/>
            <a:ext cx="0" cy="347471"/>
          </a:xfrm>
          <a:prstGeom prst="line">
            <a:avLst/>
          </a:prstGeom>
          <a:ln w="15240">
            <a:solidFill>
              <a:srgbClr val="704EA6"/>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822960" y="3520439"/>
            <a:ext cx="475488" cy="475488"/>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3621023"/>
            <a:ext cx="256032" cy="228600"/>
          </a:xfrm>
          <a:prstGeom prst="rect">
            <a:avLst/>
          </a:prstGeom>
          <a:noFill/>
        </p:spPr>
        <p:txBody>
          <a:bodyPr wrap="square" lIns="45720" rIns="45720" anchor="t">
            <a:spAutoFit/>
          </a:bodyPr>
          <a:lstStyle/>
          <a:p>
            <a:pPr algn="ctr">
              <a:lnSpc>
                <a:spcPct val="105000"/>
              </a:lnSpc>
            </a:pPr>
            <a:r>
              <a:rPr sz="1200" b="1">
                <a:solidFill>
                  <a:srgbClr val="FFFFFF"/>
                </a:solidFill>
                <a:latin typeface="Arial"/>
              </a:rPr>
              <a:t>3</a:t>
            </a:r>
          </a:p>
        </p:txBody>
      </p:sp>
      <p:sp>
        <p:nvSpPr>
          <p:cNvPr id="17" name="TextBox 16"/>
          <p:cNvSpPr txBox="1"/>
          <p:nvPr/>
        </p:nvSpPr>
        <p:spPr>
          <a:xfrm>
            <a:off x="1508760" y="3502151"/>
            <a:ext cx="1508760" cy="292608"/>
          </a:xfrm>
          <a:prstGeom prst="rect">
            <a:avLst/>
          </a:prstGeom>
          <a:noFill/>
        </p:spPr>
        <p:txBody>
          <a:bodyPr wrap="square" lIns="45720" rIns="45720" anchor="t">
            <a:spAutoFit/>
          </a:bodyPr>
          <a:lstStyle/>
          <a:p>
            <a:pPr algn="l">
              <a:lnSpc>
                <a:spcPct val="105000"/>
              </a:lnSpc>
            </a:pPr>
            <a:r>
              <a:rPr sz="1600" b="1">
                <a:solidFill>
                  <a:srgbClr val="14142B"/>
                </a:solidFill>
                <a:latin typeface="Arial"/>
              </a:rPr>
              <a:t>Fusion</a:t>
            </a:r>
          </a:p>
        </p:txBody>
      </p:sp>
      <p:sp>
        <p:nvSpPr>
          <p:cNvPr id="18" name="TextBox 17"/>
          <p:cNvSpPr txBox="1"/>
          <p:nvPr/>
        </p:nvSpPr>
        <p:spPr>
          <a:xfrm>
            <a:off x="2880360" y="3502151"/>
            <a:ext cx="6309360" cy="457200"/>
          </a:xfrm>
          <a:prstGeom prst="rect">
            <a:avLst/>
          </a:prstGeom>
          <a:noFill/>
        </p:spPr>
        <p:txBody>
          <a:bodyPr wrap="square" lIns="45720" rIns="45720" anchor="t">
            <a:spAutoFit/>
          </a:bodyPr>
          <a:lstStyle/>
          <a:p>
            <a:pPr algn="l">
              <a:lnSpc>
                <a:spcPct val="105000"/>
              </a:lnSpc>
            </a:pPr>
            <a:r>
              <a:rPr sz="1500" b="0">
                <a:solidFill>
                  <a:srgbClr val="63637E"/>
                </a:solidFill>
                <a:latin typeface="Arial"/>
              </a:rPr>
              <a:t>Multi-intent decomposition • parallel search • reranking</a:t>
            </a:r>
          </a:p>
        </p:txBody>
      </p:sp>
      <p:cxnSp>
        <p:nvCxnSpPr>
          <p:cNvPr id="19" name="Connector 18"/>
          <p:cNvCxnSpPr/>
          <p:nvPr/>
        </p:nvCxnSpPr>
        <p:spPr>
          <a:xfrm>
            <a:off x="1060704" y="3995927"/>
            <a:ext cx="0" cy="347473"/>
          </a:xfrm>
          <a:prstGeom prst="line">
            <a:avLst/>
          </a:prstGeom>
          <a:ln w="15240">
            <a:solidFill>
              <a:srgbClr val="704EA6"/>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822960" y="4343400"/>
            <a:ext cx="475488" cy="475488"/>
          </a:xfrm>
          <a:prstGeom prst="ellipse">
            <a:avLst/>
          </a:prstGeom>
          <a:solidFill>
            <a:srgbClr val="0FA3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 y="4443984"/>
            <a:ext cx="256032" cy="228600"/>
          </a:xfrm>
          <a:prstGeom prst="rect">
            <a:avLst/>
          </a:prstGeom>
          <a:noFill/>
        </p:spPr>
        <p:txBody>
          <a:bodyPr wrap="square" lIns="45720" rIns="45720" anchor="t">
            <a:spAutoFit/>
          </a:bodyPr>
          <a:lstStyle/>
          <a:p>
            <a:pPr algn="ctr">
              <a:lnSpc>
                <a:spcPct val="105000"/>
              </a:lnSpc>
            </a:pPr>
            <a:r>
              <a:rPr sz="1200" b="1">
                <a:solidFill>
                  <a:srgbClr val="FFFFFF"/>
                </a:solidFill>
                <a:latin typeface="Arial"/>
              </a:rPr>
              <a:t>4</a:t>
            </a:r>
          </a:p>
        </p:txBody>
      </p:sp>
      <p:sp>
        <p:nvSpPr>
          <p:cNvPr id="22" name="TextBox 21"/>
          <p:cNvSpPr txBox="1"/>
          <p:nvPr/>
        </p:nvSpPr>
        <p:spPr>
          <a:xfrm>
            <a:off x="1508760" y="4325112"/>
            <a:ext cx="1508760" cy="292608"/>
          </a:xfrm>
          <a:prstGeom prst="rect">
            <a:avLst/>
          </a:prstGeom>
          <a:noFill/>
        </p:spPr>
        <p:txBody>
          <a:bodyPr wrap="square" lIns="45720" rIns="45720" anchor="t">
            <a:spAutoFit/>
          </a:bodyPr>
          <a:lstStyle/>
          <a:p>
            <a:pPr algn="l">
              <a:lnSpc>
                <a:spcPct val="105000"/>
              </a:lnSpc>
            </a:pPr>
            <a:r>
              <a:rPr sz="1600" b="1">
                <a:solidFill>
                  <a:srgbClr val="14142B"/>
                </a:solidFill>
                <a:latin typeface="Arial"/>
              </a:rPr>
              <a:t>Refinement</a:t>
            </a:r>
          </a:p>
        </p:txBody>
      </p:sp>
      <p:sp>
        <p:nvSpPr>
          <p:cNvPr id="23" name="TextBox 22"/>
          <p:cNvSpPr txBox="1"/>
          <p:nvPr/>
        </p:nvSpPr>
        <p:spPr>
          <a:xfrm>
            <a:off x="2880360" y="4325112"/>
            <a:ext cx="6309360" cy="457200"/>
          </a:xfrm>
          <a:prstGeom prst="rect">
            <a:avLst/>
          </a:prstGeom>
          <a:noFill/>
        </p:spPr>
        <p:txBody>
          <a:bodyPr wrap="square" lIns="45720" rIns="45720" anchor="t">
            <a:spAutoFit/>
          </a:bodyPr>
          <a:lstStyle/>
          <a:p>
            <a:pPr algn="l">
              <a:lnSpc>
                <a:spcPct val="105000"/>
              </a:lnSpc>
            </a:pPr>
            <a:r>
              <a:rPr sz="1500" b="0">
                <a:solidFill>
                  <a:srgbClr val="63637E"/>
                </a:solidFill>
                <a:latin typeface="Arial"/>
              </a:rPr>
              <a:t>Session state • answer delta engine • grounding verification</a:t>
            </a:r>
          </a:p>
        </p:txBody>
      </p:sp>
      <p:cxnSp>
        <p:nvCxnSpPr>
          <p:cNvPr id="24" name="Connector 23"/>
          <p:cNvCxnSpPr/>
          <p:nvPr/>
        </p:nvCxnSpPr>
        <p:spPr>
          <a:xfrm>
            <a:off x="1060704" y="4818888"/>
            <a:ext cx="0" cy="347472"/>
          </a:xfrm>
          <a:prstGeom prst="line">
            <a:avLst/>
          </a:prstGeom>
          <a:ln w="15240">
            <a:solidFill>
              <a:srgbClr val="704EA6"/>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22960" y="5166360"/>
            <a:ext cx="475488" cy="475488"/>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 y="5266944"/>
            <a:ext cx="256032" cy="228600"/>
          </a:xfrm>
          <a:prstGeom prst="rect">
            <a:avLst/>
          </a:prstGeom>
          <a:noFill/>
        </p:spPr>
        <p:txBody>
          <a:bodyPr wrap="square" lIns="45720" rIns="45720" anchor="t">
            <a:spAutoFit/>
          </a:bodyPr>
          <a:lstStyle/>
          <a:p>
            <a:pPr algn="ctr">
              <a:lnSpc>
                <a:spcPct val="105000"/>
              </a:lnSpc>
            </a:pPr>
            <a:r>
              <a:rPr sz="1200" b="1">
                <a:solidFill>
                  <a:srgbClr val="FFFFFF"/>
                </a:solidFill>
                <a:latin typeface="Arial"/>
              </a:rPr>
              <a:t>5</a:t>
            </a:r>
          </a:p>
        </p:txBody>
      </p:sp>
      <p:sp>
        <p:nvSpPr>
          <p:cNvPr id="27" name="TextBox 26"/>
          <p:cNvSpPr txBox="1"/>
          <p:nvPr/>
        </p:nvSpPr>
        <p:spPr>
          <a:xfrm>
            <a:off x="1508760" y="5148072"/>
            <a:ext cx="1508760" cy="292608"/>
          </a:xfrm>
          <a:prstGeom prst="rect">
            <a:avLst/>
          </a:prstGeom>
          <a:noFill/>
        </p:spPr>
        <p:txBody>
          <a:bodyPr wrap="square" lIns="45720" rIns="45720" anchor="t">
            <a:spAutoFit/>
          </a:bodyPr>
          <a:lstStyle/>
          <a:p>
            <a:pPr algn="l">
              <a:lnSpc>
                <a:spcPct val="105000"/>
              </a:lnSpc>
            </a:pPr>
            <a:r>
              <a:rPr sz="1600" b="1">
                <a:solidFill>
                  <a:srgbClr val="14142B"/>
                </a:solidFill>
                <a:latin typeface="Arial"/>
              </a:rPr>
              <a:t>Benchmark</a:t>
            </a:r>
          </a:p>
        </p:txBody>
      </p:sp>
      <p:sp>
        <p:nvSpPr>
          <p:cNvPr id="28" name="TextBox 27"/>
          <p:cNvSpPr txBox="1"/>
          <p:nvPr/>
        </p:nvSpPr>
        <p:spPr>
          <a:xfrm>
            <a:off x="2880360" y="5148072"/>
            <a:ext cx="6309360" cy="457200"/>
          </a:xfrm>
          <a:prstGeom prst="rect">
            <a:avLst/>
          </a:prstGeom>
          <a:noFill/>
        </p:spPr>
        <p:txBody>
          <a:bodyPr wrap="square" lIns="45720" rIns="45720" anchor="t">
            <a:spAutoFit/>
          </a:bodyPr>
          <a:lstStyle/>
          <a:p>
            <a:pPr algn="l">
              <a:lnSpc>
                <a:spcPct val="105000"/>
              </a:lnSpc>
            </a:pPr>
            <a:r>
              <a:rPr sz="1500" b="0">
                <a:solidFill>
                  <a:srgbClr val="63637E"/>
                </a:solidFill>
                <a:latin typeface="Arial"/>
              </a:rPr>
              <a:t>Telemetry • edge cases • ablations • Docker packaging</a:t>
            </a:r>
          </a:p>
        </p:txBody>
      </p:sp>
      <p:sp>
        <p:nvSpPr>
          <p:cNvPr id="29" name="Rounded Rectangle 28"/>
          <p:cNvSpPr/>
          <p:nvPr/>
        </p:nvSpPr>
        <p:spPr>
          <a:xfrm>
            <a:off x="777240" y="5532120"/>
            <a:ext cx="8686800" cy="658368"/>
          </a:xfrm>
          <a:prstGeom prst="roundRect">
            <a:avLst/>
          </a:prstGeom>
          <a:solidFill>
            <a:srgbClr val="EEE7FA"/>
          </a:solidFill>
          <a:ln w="16510">
            <a:solidFill>
              <a:srgbClr val="704EA6"/>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500" b="1">
                <a:solidFill>
                  <a:srgbClr val="704EA6"/>
                </a:solidFill>
                <a:latin typeface="Arial"/>
              </a:rPr>
              <a:t>NEXT MILESTONE</a:t>
            </a:r>
          </a:p>
          <a:p>
            <a:pPr>
              <a:spcAft>
                <a:spcPts val="0"/>
              </a:spcAft>
            </a:pPr>
            <a:r>
              <a:rPr sz="1200">
                <a:solidFill>
                  <a:srgbClr val="14142B"/>
                </a:solidFill>
                <a:latin typeface="Arial"/>
              </a:rPr>
              <a:t>Run the first end-to-end benchmark using the supplied corpus and tune the controller thresholds against the official acceptance gates.</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
        <p:nvSpPr>
          <p:cNvPr id="4" name="TextBox 3"/>
          <p:cNvSpPr txBox="1"/>
          <p:nvPr/>
        </p:nvSpPr>
        <p:spPr>
          <a:xfrm>
            <a:off x="777240" y="1353312"/>
            <a:ext cx="4389120" cy="365760"/>
          </a:xfrm>
          <a:prstGeom prst="rect">
            <a:avLst/>
          </a:prstGeom>
          <a:noFill/>
        </p:spPr>
        <p:txBody>
          <a:bodyPr wrap="square" lIns="45720" rIns="45720" anchor="t">
            <a:spAutoFit/>
          </a:bodyPr>
          <a:lstStyle/>
          <a:p>
            <a:pPr algn="l">
              <a:lnSpc>
                <a:spcPct val="105000"/>
              </a:lnSpc>
            </a:pPr>
            <a:r>
              <a:rPr sz="2100" b="1">
                <a:solidFill>
                  <a:srgbClr val="6D28D9"/>
                </a:solidFill>
                <a:latin typeface="Arial"/>
              </a:rPr>
              <a:t>Why this can stand out</a:t>
            </a:r>
          </a:p>
        </p:txBody>
      </p:sp>
      <p:sp>
        <p:nvSpPr>
          <p:cNvPr id="5" name="Rounded Rectangle 4"/>
          <p:cNvSpPr/>
          <p:nvPr/>
        </p:nvSpPr>
        <p:spPr>
          <a:xfrm>
            <a:off x="777240" y="1874519"/>
            <a:ext cx="4160520" cy="1024128"/>
          </a:xfrm>
          <a:prstGeom prst="roundRect">
            <a:avLst/>
          </a:prstGeom>
          <a:solidFill>
            <a:srgbClr val="FFFFFF"/>
          </a:solidFill>
          <a:ln w="16510">
            <a:solidFill>
              <a:srgbClr val="704EA6"/>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500" b="1">
                <a:solidFill>
                  <a:srgbClr val="704EA6"/>
                </a:solidFill>
                <a:latin typeface="Arial"/>
              </a:rPr>
              <a:t>Not just streaming text</a:t>
            </a:r>
          </a:p>
          <a:p>
            <a:pPr>
              <a:spcAft>
                <a:spcPts val="0"/>
              </a:spcAft>
            </a:pPr>
            <a:r>
              <a:rPr sz="1100">
                <a:solidFill>
                  <a:srgbClr val="14142B"/>
                </a:solidFill>
                <a:latin typeface="Arial"/>
              </a:rPr>
              <a:t>Streaming is tied to retrieval decisions, evidence updates and answer versions.</a:t>
            </a:r>
          </a:p>
        </p:txBody>
      </p:sp>
      <p:sp>
        <p:nvSpPr>
          <p:cNvPr id="6" name="Rounded Rectangle 5"/>
          <p:cNvSpPr/>
          <p:nvPr/>
        </p:nvSpPr>
        <p:spPr>
          <a:xfrm>
            <a:off x="5303520" y="1874519"/>
            <a:ext cx="4160520" cy="1024128"/>
          </a:xfrm>
          <a:prstGeom prst="roundRect">
            <a:avLst/>
          </a:prstGeom>
          <a:solidFill>
            <a:srgbClr val="FFFFFF"/>
          </a:solidFill>
          <a:ln w="16510">
            <a:solidFill>
              <a:srgbClr val="0FA39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500" b="1">
                <a:solidFill>
                  <a:srgbClr val="0FA39E"/>
                </a:solidFill>
                <a:latin typeface="Arial"/>
              </a:rPr>
              <a:t>Retrieval before completion</a:t>
            </a:r>
          </a:p>
          <a:p>
            <a:pPr>
              <a:spcAft>
                <a:spcPts val="0"/>
              </a:spcAft>
            </a:pPr>
            <a:r>
              <a:rPr sz="1100">
                <a:solidFill>
                  <a:srgbClr val="14142B"/>
                </a:solidFill>
                <a:latin typeface="Arial"/>
              </a:rPr>
              <a:t>The controller starts retrieval when intent is stable instead of blindly waiting.</a:t>
            </a:r>
          </a:p>
        </p:txBody>
      </p:sp>
      <p:sp>
        <p:nvSpPr>
          <p:cNvPr id="7" name="Rounded Rectangle 6"/>
          <p:cNvSpPr/>
          <p:nvPr/>
        </p:nvSpPr>
        <p:spPr>
          <a:xfrm>
            <a:off x="777240" y="3200400"/>
            <a:ext cx="4160520" cy="1024128"/>
          </a:xfrm>
          <a:prstGeom prst="roundRect">
            <a:avLst/>
          </a:prstGeom>
          <a:solidFill>
            <a:srgbClr val="FFFFFF"/>
          </a:solidFill>
          <a:ln w="16510">
            <a:solidFill>
              <a:srgbClr val="704EA6"/>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500" b="1">
                <a:solidFill>
                  <a:srgbClr val="704EA6"/>
                </a:solidFill>
                <a:latin typeface="Arial"/>
              </a:rPr>
              <a:t>Compound-query intelligence</a:t>
            </a:r>
          </a:p>
          <a:p>
            <a:pPr>
              <a:spcAft>
                <a:spcPts val="0"/>
              </a:spcAft>
            </a:pPr>
            <a:r>
              <a:rPr sz="1100">
                <a:solidFill>
                  <a:srgbClr val="14142B"/>
                </a:solidFill>
                <a:latin typeface="Arial"/>
              </a:rPr>
              <a:t>Independent intents are searched in parallel and fused into one grounded answer.</a:t>
            </a:r>
          </a:p>
        </p:txBody>
      </p:sp>
      <p:sp>
        <p:nvSpPr>
          <p:cNvPr id="8" name="Rounded Rectangle 7"/>
          <p:cNvSpPr/>
          <p:nvPr/>
        </p:nvSpPr>
        <p:spPr>
          <a:xfrm>
            <a:off x="5303520" y="3200400"/>
            <a:ext cx="4160520" cy="1024128"/>
          </a:xfrm>
          <a:prstGeom prst="roundRect">
            <a:avLst/>
          </a:prstGeom>
          <a:solidFill>
            <a:srgbClr val="FFFFFF"/>
          </a:solidFill>
          <a:ln w="16510">
            <a:solidFill>
              <a:srgbClr val="0FA39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500" b="1">
                <a:solidFill>
                  <a:srgbClr val="0FA39E"/>
                </a:solidFill>
                <a:latin typeface="Arial"/>
              </a:rPr>
              <a:t>Refine, don't restart</a:t>
            </a:r>
          </a:p>
          <a:p>
            <a:pPr>
              <a:spcAft>
                <a:spcPts val="0"/>
              </a:spcAft>
            </a:pPr>
            <a:r>
              <a:rPr sz="1100">
                <a:solidFill>
                  <a:srgbClr val="14142B"/>
                </a:solidFill>
                <a:latin typeface="Arial"/>
              </a:rPr>
              <a:t>Late details modify affected claims while preserving valid session context.</a:t>
            </a:r>
          </a:p>
        </p:txBody>
      </p:sp>
      <p:sp>
        <p:nvSpPr>
          <p:cNvPr id="9" name="Rounded Rectangle 8"/>
          <p:cNvSpPr/>
          <p:nvPr/>
        </p:nvSpPr>
        <p:spPr>
          <a:xfrm>
            <a:off x="777240" y="4526279"/>
            <a:ext cx="4160520" cy="1024128"/>
          </a:xfrm>
          <a:prstGeom prst="roundRect">
            <a:avLst/>
          </a:prstGeom>
          <a:solidFill>
            <a:srgbClr val="FFFFFF"/>
          </a:solidFill>
          <a:ln w="16510">
            <a:solidFill>
              <a:srgbClr val="704EA6"/>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500" b="1">
                <a:solidFill>
                  <a:srgbClr val="704EA6"/>
                </a:solidFill>
                <a:latin typeface="Arial"/>
              </a:rPr>
              <a:t>No-retrieval intelligence</a:t>
            </a:r>
          </a:p>
          <a:p>
            <a:pPr>
              <a:spcAft>
                <a:spcPts val="0"/>
              </a:spcAft>
            </a:pPr>
            <a:r>
              <a:rPr sz="1100">
                <a:solidFill>
                  <a:srgbClr val="14142B"/>
                </a:solidFill>
                <a:latin typeface="Arial"/>
              </a:rPr>
              <a:t>Formatting or summarization requests reuse existing context instead of searching again.</a:t>
            </a:r>
          </a:p>
        </p:txBody>
      </p:sp>
      <p:sp>
        <p:nvSpPr>
          <p:cNvPr id="10" name="Rounded Rectangle 9"/>
          <p:cNvSpPr/>
          <p:nvPr/>
        </p:nvSpPr>
        <p:spPr>
          <a:xfrm>
            <a:off x="5303520" y="4526279"/>
            <a:ext cx="4160520" cy="1024128"/>
          </a:xfrm>
          <a:prstGeom prst="roundRect">
            <a:avLst/>
          </a:prstGeom>
          <a:solidFill>
            <a:srgbClr val="FFFFFF"/>
          </a:solidFill>
          <a:ln w="16510">
            <a:solidFill>
              <a:srgbClr val="0FA39E"/>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bIns="73152"/>
          <a:lstStyle/>
          <a:p>
            <a:pPr algn="ctr">
              <a:spcAft>
                <a:spcPts val="500"/>
              </a:spcAft>
            </a:pPr>
            <a:r>
              <a:rPr sz="1500" b="1">
                <a:solidFill>
                  <a:srgbClr val="0FA39E"/>
                </a:solidFill>
                <a:latin typeface="Arial"/>
              </a:rPr>
              <a:t>Observable by design</a:t>
            </a:r>
          </a:p>
          <a:p>
            <a:pPr>
              <a:spcAft>
                <a:spcPts val="0"/>
              </a:spcAft>
            </a:pPr>
            <a:r>
              <a:rPr sz="1100">
                <a:solidFill>
                  <a:srgbClr val="14142B"/>
                </a:solidFill>
                <a:latin typeface="Arial"/>
              </a:rPr>
              <a:t>Every critical decision is traceable through structured telemetry.</a:t>
            </a:r>
          </a:p>
        </p:txBody>
      </p:sp>
      <p:sp>
        <p:nvSpPr>
          <p:cNvPr id="11" name="TextBox 10"/>
          <p:cNvSpPr txBox="1"/>
          <p:nvPr/>
        </p:nvSpPr>
        <p:spPr>
          <a:xfrm>
            <a:off x="777240" y="5897880"/>
            <a:ext cx="8686800" cy="320040"/>
          </a:xfrm>
          <a:prstGeom prst="rect">
            <a:avLst/>
          </a:prstGeom>
          <a:noFill/>
        </p:spPr>
        <p:txBody>
          <a:bodyPr wrap="square" lIns="45720" rIns="45720" anchor="t">
            <a:spAutoFit/>
          </a:bodyPr>
          <a:lstStyle/>
          <a:p>
            <a:pPr algn="ctr">
              <a:lnSpc>
                <a:spcPct val="105000"/>
              </a:lnSpc>
            </a:pPr>
            <a:r>
              <a:rPr sz="1500" b="1">
                <a:solidFill>
                  <a:srgbClr val="63637E"/>
                </a:solidFill>
                <a:latin typeface="Arial"/>
              </a:rPr>
              <a:t>Differentiation is behavior-first: every feature maps to a requirement in the Theme 4 guide.</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wrap="square"/>
          <a:lstStyle/>
          <a:p>
            <a:pPr>
              <a:spcAft>
                <a:spcPts val="600"/>
              </a:spcAft>
            </a:pPr>
            <a:r>
              <a:rPr sz="1700">
                <a:solidFill>
                  <a:srgbClr val="704EA6"/>
                </a:solidFill>
                <a:latin typeface="Arial"/>
              </a:rPr>
              <a:t>☑ </a:t>
            </a:r>
            <a:r>
              <a:rPr sz="1600" b="1">
                <a:solidFill>
                  <a:srgbClr val="14142B"/>
                </a:solidFill>
                <a:latin typeface="Calibri"/>
              </a:rPr>
              <a:t>Working prototype code: </a:t>
            </a:r>
            <a:r>
              <a:rPr sz="1600">
                <a:solidFill>
                  <a:srgbClr val="63637E"/>
                </a:solidFill>
                <a:latin typeface="Calibri"/>
              </a:rPr>
              <a:t>YES — planned for public/shared GitHub</a:t>
            </a:r>
          </a:p>
          <a:p>
            <a:pPr>
              <a:spcAft>
                <a:spcPts val="600"/>
              </a:spcAft>
            </a:pPr>
            <a:r>
              <a:rPr sz="1700">
                <a:solidFill>
                  <a:srgbClr val="704EA6"/>
                </a:solidFill>
                <a:latin typeface="Arial"/>
              </a:rPr>
              <a:t>☑ </a:t>
            </a:r>
            <a:r>
              <a:rPr sz="1600" b="1">
                <a:solidFill>
                  <a:srgbClr val="14142B"/>
                </a:solidFill>
                <a:latin typeface="Calibri"/>
              </a:rPr>
              <a:t>README with reproducible setup: </a:t>
            </a:r>
            <a:r>
              <a:rPr sz="1600">
                <a:solidFill>
                  <a:srgbClr val="63637E"/>
                </a:solidFill>
                <a:latin typeface="Calibri"/>
              </a:rPr>
              <a:t>YES — Docker / one-command run instructions</a:t>
            </a:r>
          </a:p>
          <a:p>
            <a:pPr>
              <a:spcAft>
                <a:spcPts val="600"/>
              </a:spcAft>
            </a:pPr>
            <a:r>
              <a:rPr sz="1700">
                <a:solidFill>
                  <a:srgbClr val="704EA6"/>
                </a:solidFill>
                <a:latin typeface="Arial"/>
              </a:rPr>
              <a:t>☑ </a:t>
            </a:r>
            <a:r>
              <a:rPr sz="1600" b="1">
                <a:solidFill>
                  <a:srgbClr val="14142B"/>
                </a:solidFill>
                <a:latin typeface="Calibri"/>
              </a:rPr>
              <a:t>Demo video, max 5 minutes: </a:t>
            </a:r>
            <a:r>
              <a:rPr sz="1600">
                <a:solidFill>
                  <a:srgbClr val="63637E"/>
                </a:solidFill>
                <a:latin typeface="Calibri"/>
              </a:rPr>
              <a:t>TO BE RECORDED — benchmark walkthrough</a:t>
            </a:r>
          </a:p>
          <a:p>
            <a:pPr>
              <a:spcAft>
                <a:spcPts val="600"/>
              </a:spcAft>
            </a:pPr>
            <a:r>
              <a:rPr sz="1700">
                <a:solidFill>
                  <a:srgbClr val="704EA6"/>
                </a:solidFill>
                <a:latin typeface="Arial"/>
              </a:rPr>
              <a:t>☑ </a:t>
            </a:r>
            <a:r>
              <a:rPr sz="1600" b="1">
                <a:solidFill>
                  <a:srgbClr val="14142B"/>
                </a:solidFill>
                <a:latin typeface="Calibri"/>
              </a:rPr>
              <a:t>Presentation file: </a:t>
            </a:r>
            <a:r>
              <a:rPr sz="1600">
                <a:solidFill>
                  <a:srgbClr val="63637E"/>
                </a:solidFill>
                <a:latin typeface="Calibri"/>
              </a:rPr>
              <a:t>YES — this submission deck</a:t>
            </a:r>
          </a:p>
          <a:p>
            <a:pPr>
              <a:spcAft>
                <a:spcPts val="600"/>
              </a:spcAft>
            </a:pPr>
            <a:r>
              <a:rPr sz="1700">
                <a:solidFill>
                  <a:srgbClr val="704EA6"/>
                </a:solidFill>
                <a:latin typeface="Arial"/>
              </a:rPr>
              <a:t>☑ </a:t>
            </a:r>
            <a:r>
              <a:rPr sz="1600" b="1">
                <a:solidFill>
                  <a:srgbClr val="14142B"/>
                </a:solidFill>
                <a:latin typeface="Calibri"/>
              </a:rPr>
              <a:t>Architecture brief ≤6 pages: </a:t>
            </a:r>
            <a:r>
              <a:rPr sz="1600">
                <a:solidFill>
                  <a:srgbClr val="63637E"/>
                </a:solidFill>
                <a:latin typeface="Calibri"/>
              </a:rPr>
              <a:t>TO BE PREPARED</a:t>
            </a:r>
          </a:p>
          <a:p>
            <a:pPr>
              <a:spcAft>
                <a:spcPts val="600"/>
              </a:spcAft>
            </a:pPr>
            <a:r>
              <a:rPr sz="1700">
                <a:solidFill>
                  <a:srgbClr val="704EA6"/>
                </a:solidFill>
                <a:latin typeface="Arial"/>
              </a:rPr>
              <a:t>☑ </a:t>
            </a:r>
            <a:r>
              <a:rPr sz="1600" b="1">
                <a:solidFill>
                  <a:srgbClr val="14142B"/>
                </a:solidFill>
                <a:latin typeface="Calibri"/>
              </a:rPr>
              <a:t>Benchmark &amp; evaluation report: </a:t>
            </a:r>
            <a:r>
              <a:rPr sz="1600">
                <a:solidFill>
                  <a:srgbClr val="63637E"/>
                </a:solidFill>
                <a:latin typeface="Calibri"/>
              </a:rPr>
              <a:t>TO BE PREPARED after official test runs</a:t>
            </a:r>
          </a:p>
          <a:p>
            <a:pPr>
              <a:spcAft>
                <a:spcPts val="600"/>
              </a:spcAft>
            </a:pPr>
            <a:r>
              <a:rPr sz="1700">
                <a:solidFill>
                  <a:srgbClr val="704EA6"/>
                </a:solidFill>
                <a:latin typeface="Arial"/>
              </a:rPr>
              <a:t>☑ </a:t>
            </a:r>
            <a:r>
              <a:rPr sz="1600" b="1">
                <a:solidFill>
                  <a:srgbClr val="14142B"/>
                </a:solidFill>
                <a:latin typeface="Calibri"/>
              </a:rPr>
              <a:t>Telemetry / observability schema: </a:t>
            </a:r>
            <a:r>
              <a:rPr sz="1600">
                <a:solidFill>
                  <a:srgbClr val="63637E"/>
                </a:solidFill>
                <a:latin typeface="Calibri"/>
              </a:rPr>
              <a:t>TO BE INCLUDED in repository</a:t>
            </a:r>
          </a:p>
          <a:p>
            <a:pPr>
              <a:spcAft>
                <a:spcPts val="600"/>
              </a:spcAft>
            </a:pPr>
            <a:r>
              <a:rPr sz="1700">
                <a:solidFill>
                  <a:srgbClr val="704EA6"/>
                </a:solidFill>
                <a:latin typeface="Arial"/>
              </a:rPr>
              <a:t>☑ </a:t>
            </a:r>
            <a:r>
              <a:rPr sz="1600" b="1">
                <a:solidFill>
                  <a:srgbClr val="14142B"/>
                </a:solidFill>
                <a:latin typeface="Calibri"/>
              </a:rPr>
              <a:t>AI Disclosure: </a:t>
            </a:r>
            <a:r>
              <a:rPr sz="1600">
                <a:solidFill>
                  <a:srgbClr val="63637E"/>
                </a:solidFill>
                <a:latin typeface="Calibri"/>
              </a:rPr>
              <a:t>TO BE COMPLETED from actual AI-assisted work</a:t>
            </a:r>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
        <p:nvSpPr>
          <p:cNvPr id="29" name="TextBox 28"/>
          <p:cNvSpPr txBox="1"/>
          <p:nvPr/>
        </p:nvSpPr>
        <p:spPr>
          <a:xfrm>
            <a:off x="777240" y="5074920"/>
            <a:ext cx="8778240" cy="320040"/>
          </a:xfrm>
          <a:prstGeom prst="rect">
            <a:avLst/>
          </a:prstGeom>
          <a:noFill/>
        </p:spPr>
        <p:txBody>
          <a:bodyPr wrap="square" lIns="45720" rIns="45720" anchor="t">
            <a:spAutoFit/>
          </a:bodyPr>
          <a:lstStyle/>
          <a:p>
            <a:pPr algn="ctr">
              <a:lnSpc>
                <a:spcPct val="105000"/>
              </a:lnSpc>
            </a:pPr>
            <a:r>
              <a:rPr sz="1400" b="1">
                <a:solidFill>
                  <a:srgbClr val="63637E"/>
                </a:solidFill>
                <a:latin typeface="Arial"/>
              </a:rPr>
              <a:t>STREAMING LIVE RAG • SRMIST_StreamRAG_4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65</TotalTime>
  <Words>266</Words>
  <Application>Microsoft Office PowerPoint</Application>
  <PresentationFormat>Widescreen</PresentationFormat>
  <Paragraphs>32</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Binny Lakra/PRISM /SRI-Bangalore/Professional/Samsung Electronics</cp:lastModifiedBy>
  <cp:revision>6</cp:revision>
  <dcterms:created xsi:type="dcterms:W3CDTF">2026-09-07T12:01:01Z</dcterms:created>
  <dcterms:modified xsi:type="dcterms:W3CDTF">2026-09-08T10:03:30Z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